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1999" cy="101600"/>
          </a:xfrm>
          <a:prstGeom prst="rect">
            <a:avLst/>
          </a:prstGeom>
          <a:solidFill>
            <a:srgbClr val="005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eft accent block"/>
          <p:cNvSpPr/>
          <p:nvPr/>
        </p:nvSpPr>
        <p:spPr>
          <a:xfrm>
            <a:off x="0" y="0"/>
            <a:ext cx="215899" cy="6858000"/>
          </a:xfrm>
          <a:prstGeom prst="rect">
            <a:avLst/>
          </a:prstGeom>
          <a:solidFill>
            <a:srgbClr val="19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ubtle footer field"/>
          <p:cNvSpPr/>
          <p:nvPr/>
        </p:nvSpPr>
        <p:spPr>
          <a:xfrm>
            <a:off x="0" y="6019800"/>
            <a:ext cx="12191999" cy="8382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ection label"/>
          <p:cNvSpPr txBox="1"/>
          <p:nvPr/>
        </p:nvSpPr>
        <p:spPr>
          <a:xfrm>
            <a:off x="596899" y="469899"/>
            <a:ext cx="2285999" cy="2159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9A83A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1099799" y="469899"/>
            <a:ext cx="457199" cy="2159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11181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584199" y="774700"/>
            <a:ext cx="4254499" cy="482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3800" b="1">
                <a:solidFill>
                  <a:srgbClr val="111812"/>
                </a:solidFill>
                <a:latin typeface="Arial"/>
              </a:defRPr>
            </a:pPr>
            <a:r>
              <a:t>Nikesh Desai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596899" y="1308100"/>
            <a:ext cx="5714999" cy="2413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526057"/>
                </a:solidFill>
                <a:latin typeface="Arial"/>
              </a:defRPr>
            </a:pPr>
            <a:r>
              <a:t>Data Science + AI | Strategy, modeling, and creative systems thinking</a:t>
            </a:r>
          </a:p>
        </p:txBody>
      </p:sp>
      <p:sp>
        <p:nvSpPr>
          <p:cNvPr id="10" name="Header divider"/>
          <p:cNvSpPr/>
          <p:nvPr/>
        </p:nvSpPr>
        <p:spPr>
          <a:xfrm>
            <a:off x="596899" y="1727200"/>
            <a:ext cx="5206999" cy="19050"/>
          </a:xfrm>
          <a:prstGeom prst="rect">
            <a:avLst/>
          </a:prstGeom>
          <a:solidFill>
            <a:srgbClr val="D9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der accent"/>
          <p:cNvSpPr/>
          <p:nvPr/>
        </p:nvSpPr>
        <p:spPr>
          <a:xfrm>
            <a:off x="596899" y="1727200"/>
            <a:ext cx="1333499" cy="19050"/>
          </a:xfrm>
          <a:prstGeom prst="rect">
            <a:avLst/>
          </a:prstGeom>
          <a:solidFill>
            <a:srgbClr val="19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ro image container"/>
          <p:cNvSpPr/>
          <p:nvPr/>
        </p:nvSpPr>
        <p:spPr>
          <a:xfrm>
            <a:off x="6603999" y="749300"/>
            <a:ext cx="4381499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Tennis photo" descr="ppt-pro-tennis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699" y="889000"/>
            <a:ext cx="4102099" cy="2641600"/>
          </a:xfrm>
          <a:prstGeom prst="rect">
            <a:avLst/>
          </a:prstGeom>
        </p:spPr>
      </p:pic>
      <p:sp>
        <p:nvSpPr>
          <p:cNvPr id="14" name="Hero image caption strip"/>
          <p:cNvSpPr/>
          <p:nvPr/>
        </p:nvSpPr>
        <p:spPr>
          <a:xfrm>
            <a:off x="6743699" y="3251200"/>
            <a:ext cx="4102099" cy="279400"/>
          </a:xfrm>
          <a:prstGeom prst="rect">
            <a:avLst/>
          </a:prstGeom>
          <a:solidFill>
            <a:srgbClr val="083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ro image caption"/>
          <p:cNvSpPr txBox="1"/>
          <p:nvPr/>
        </p:nvSpPr>
        <p:spPr>
          <a:xfrm>
            <a:off x="6908799" y="3327400"/>
            <a:ext cx="2285999" cy="15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Bates Varsity Tennis</a:t>
            </a:r>
          </a:p>
        </p:txBody>
      </p:sp>
      <p:sp>
        <p:nvSpPr>
          <p:cNvPr id="16" name="Summary panel"/>
          <p:cNvSpPr/>
          <p:nvPr/>
        </p:nvSpPr>
        <p:spPr>
          <a:xfrm>
            <a:off x="596899" y="2070100"/>
            <a:ext cx="533399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ummary heading"/>
          <p:cNvSpPr txBox="1"/>
          <p:nvPr/>
        </p:nvSpPr>
        <p:spPr>
          <a:xfrm>
            <a:off x="838199" y="2286000"/>
            <a:ext cx="2158999" cy="2159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11812"/>
                </a:solidFill>
                <a:latin typeface="Arial"/>
              </a:defRPr>
            </a:pPr>
            <a:r>
              <a:t>Profile snapshot</a:t>
            </a:r>
          </a:p>
        </p:txBody>
      </p:sp>
      <p:sp>
        <p:nvSpPr>
          <p:cNvPr id="18" name="Summary copy"/>
          <p:cNvSpPr txBox="1"/>
          <p:nvPr/>
        </p:nvSpPr>
        <p:spPr>
          <a:xfrm>
            <a:off x="838199" y="2628900"/>
            <a:ext cx="4698999" cy="5715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526057"/>
                </a:solidFill>
                <a:latin typeface="Arial"/>
              </a:defRPr>
            </a:pPr>
            <a:r>
              <a:t>From Hopkinton, MA, with an academic path spanning mathematics, economics, data science, and AI. Brings a competitive athletics background and an independent art practice into analytical problem-solving.</a:t>
            </a:r>
          </a:p>
        </p:txBody>
      </p:sp>
      <p:sp>
        <p:nvSpPr>
          <p:cNvPr id="19" name="Summary metric one"/>
          <p:cNvSpPr/>
          <p:nvPr/>
        </p:nvSpPr>
        <p:spPr>
          <a:xfrm>
            <a:off x="838199" y="3263900"/>
            <a:ext cx="1282699" cy="241300"/>
          </a:xfrm>
          <a:prstGeom prst="roundRect">
            <a:avLst/>
          </a:prstGeom>
          <a:solidFill>
            <a:srgbClr val="EE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ummary metric one text"/>
          <p:cNvSpPr txBox="1"/>
          <p:nvPr/>
        </p:nvSpPr>
        <p:spPr>
          <a:xfrm>
            <a:off x="977899" y="3327400"/>
            <a:ext cx="1015999" cy="1143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005F1B"/>
                </a:solidFill>
                <a:latin typeface="Arial"/>
              </a:defRPr>
            </a:pPr>
            <a:r>
              <a:t>Hopkinton, MA</a:t>
            </a:r>
          </a:p>
        </p:txBody>
      </p:sp>
      <p:sp>
        <p:nvSpPr>
          <p:cNvPr id="21" name="Summary metric two"/>
          <p:cNvSpPr/>
          <p:nvPr/>
        </p:nvSpPr>
        <p:spPr>
          <a:xfrm>
            <a:off x="2235199" y="3263900"/>
            <a:ext cx="1396999" cy="241300"/>
          </a:xfrm>
          <a:prstGeom prst="roundRect">
            <a:avLst/>
          </a:prstGeom>
          <a:solidFill>
            <a:srgbClr val="EE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ummary metric two text"/>
          <p:cNvSpPr txBox="1"/>
          <p:nvPr/>
        </p:nvSpPr>
        <p:spPr>
          <a:xfrm>
            <a:off x="2374899" y="3327400"/>
            <a:ext cx="1117599" cy="1143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005F1B"/>
                </a:solidFill>
                <a:latin typeface="Arial"/>
              </a:defRPr>
            </a:pPr>
            <a:r>
              <a:t>Bates College</a:t>
            </a:r>
          </a:p>
        </p:txBody>
      </p:sp>
      <p:sp>
        <p:nvSpPr>
          <p:cNvPr id="23" name="Summary metric three"/>
          <p:cNvSpPr/>
          <p:nvPr/>
        </p:nvSpPr>
        <p:spPr>
          <a:xfrm>
            <a:off x="3746499" y="3263900"/>
            <a:ext cx="1269999" cy="241300"/>
          </a:xfrm>
          <a:prstGeom prst="roundRect">
            <a:avLst/>
          </a:prstGeom>
          <a:solidFill>
            <a:srgbClr val="EE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ummary metric three text"/>
          <p:cNvSpPr txBox="1"/>
          <p:nvPr/>
        </p:nvSpPr>
        <p:spPr>
          <a:xfrm>
            <a:off x="3886199" y="3327400"/>
            <a:ext cx="990599" cy="1143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005F1B"/>
                </a:solidFill>
                <a:latin typeface="Arial"/>
              </a:defRPr>
            </a:pPr>
            <a:r>
              <a:t>UPenn DS + AI</a:t>
            </a:r>
          </a:p>
        </p:txBody>
      </p:sp>
      <p:sp>
        <p:nvSpPr>
          <p:cNvPr id="25" name="Capability row 1"/>
          <p:cNvSpPr/>
          <p:nvPr/>
        </p:nvSpPr>
        <p:spPr>
          <a:xfrm>
            <a:off x="596899" y="4038599"/>
            <a:ext cx="5333999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pability marker 1"/>
          <p:cNvSpPr/>
          <p:nvPr/>
        </p:nvSpPr>
        <p:spPr>
          <a:xfrm>
            <a:off x="749299" y="4190999"/>
            <a:ext cx="76199" cy="177799"/>
          </a:xfrm>
          <a:prstGeom prst="roundRect">
            <a:avLst/>
          </a:prstGeom>
          <a:solidFill>
            <a:srgbClr val="19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pability heading 1"/>
          <p:cNvSpPr txBox="1"/>
          <p:nvPr/>
        </p:nvSpPr>
        <p:spPr>
          <a:xfrm>
            <a:off x="977899" y="4152899"/>
            <a:ext cx="1333499" cy="15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12"/>
                </a:solidFill>
                <a:latin typeface="Arial"/>
              </a:defRPr>
            </a:pPr>
            <a:r>
              <a:t>Education</a:t>
            </a:r>
          </a:p>
        </p:txBody>
      </p:sp>
      <p:sp>
        <p:nvSpPr>
          <p:cNvPr id="28" name="Capability body 1"/>
          <p:cNvSpPr txBox="1"/>
          <p:nvPr/>
        </p:nvSpPr>
        <p:spPr>
          <a:xfrm>
            <a:off x="2412999" y="4146550"/>
            <a:ext cx="3174999" cy="2159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526057"/>
                </a:solidFill>
                <a:latin typeface="Arial"/>
              </a:defRPr>
            </a:pPr>
            <a:r>
              <a:t>Bates College undergraduate degree in Math and Economics; Masters in Data Science and AI at UPenn.</a:t>
            </a:r>
          </a:p>
        </p:txBody>
      </p:sp>
      <p:sp>
        <p:nvSpPr>
          <p:cNvPr id="29" name="Capability row 2"/>
          <p:cNvSpPr/>
          <p:nvPr/>
        </p:nvSpPr>
        <p:spPr>
          <a:xfrm>
            <a:off x="596899" y="4686300"/>
            <a:ext cx="5333999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pability marker 2"/>
          <p:cNvSpPr/>
          <p:nvPr/>
        </p:nvSpPr>
        <p:spPr>
          <a:xfrm>
            <a:off x="749299" y="4838699"/>
            <a:ext cx="76199" cy="177799"/>
          </a:xfrm>
          <a:prstGeom prst="roundRect">
            <a:avLst/>
          </a:prstGeom>
          <a:solidFill>
            <a:srgbClr val="19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pability heading 2"/>
          <p:cNvSpPr txBox="1"/>
          <p:nvPr/>
        </p:nvSpPr>
        <p:spPr>
          <a:xfrm>
            <a:off x="977899" y="4800600"/>
            <a:ext cx="1333499" cy="15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12"/>
                </a:solidFill>
                <a:latin typeface="Arial"/>
              </a:defRPr>
            </a:pPr>
            <a:r>
              <a:t>Athletics</a:t>
            </a:r>
          </a:p>
        </p:txBody>
      </p:sp>
      <p:sp>
        <p:nvSpPr>
          <p:cNvPr id="32" name="Capability body 2"/>
          <p:cNvSpPr txBox="1"/>
          <p:nvPr/>
        </p:nvSpPr>
        <p:spPr>
          <a:xfrm>
            <a:off x="2412999" y="4794250"/>
            <a:ext cx="3174999" cy="2159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526057"/>
                </a:solidFill>
                <a:latin typeface="Arial"/>
              </a:defRPr>
            </a:pPr>
            <a:r>
              <a:t>Played tennis on the Bates Varsity Tennis Team, bringing discipline and competitive execution.</a:t>
            </a:r>
          </a:p>
        </p:txBody>
      </p:sp>
      <p:sp>
        <p:nvSpPr>
          <p:cNvPr id="33" name="Capability row 3"/>
          <p:cNvSpPr/>
          <p:nvPr/>
        </p:nvSpPr>
        <p:spPr>
          <a:xfrm>
            <a:off x="596899" y="5334000"/>
            <a:ext cx="5333999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pability marker 3"/>
          <p:cNvSpPr/>
          <p:nvPr/>
        </p:nvSpPr>
        <p:spPr>
          <a:xfrm>
            <a:off x="749299" y="5486400"/>
            <a:ext cx="76199" cy="177799"/>
          </a:xfrm>
          <a:prstGeom prst="roundRect">
            <a:avLst/>
          </a:prstGeom>
          <a:solidFill>
            <a:srgbClr val="19A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apability heading 3"/>
          <p:cNvSpPr txBox="1"/>
          <p:nvPr/>
        </p:nvSpPr>
        <p:spPr>
          <a:xfrm>
            <a:off x="977899" y="5448300"/>
            <a:ext cx="1333499" cy="152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12"/>
                </a:solidFill>
                <a:latin typeface="Arial"/>
              </a:defRPr>
            </a:pPr>
            <a:r>
              <a:t>Creative practice</a:t>
            </a:r>
          </a:p>
        </p:txBody>
      </p:sp>
      <p:sp>
        <p:nvSpPr>
          <p:cNvPr id="36" name="Capability body 3"/>
          <p:cNvSpPr txBox="1"/>
          <p:nvPr/>
        </p:nvSpPr>
        <p:spPr>
          <a:xfrm>
            <a:off x="2412999" y="5441950"/>
            <a:ext cx="3174999" cy="2159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526057"/>
                </a:solidFill>
                <a:latin typeface="Arial"/>
              </a:defRPr>
            </a:pPr>
            <a:r>
              <a:t>Paints in the style of Cubism / Geometric Modern Art and started an independent art business.</a:t>
            </a:r>
          </a:p>
        </p:txBody>
      </p:sp>
      <p:sp>
        <p:nvSpPr>
          <p:cNvPr id="37" name="Art panel"/>
          <p:cNvSpPr/>
          <p:nvPr/>
        </p:nvSpPr>
        <p:spPr>
          <a:xfrm>
            <a:off x="6603999" y="4038599"/>
            <a:ext cx="4381499" cy="1917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t panel dark header"/>
          <p:cNvSpPr/>
          <p:nvPr/>
        </p:nvSpPr>
        <p:spPr>
          <a:xfrm>
            <a:off x="6603999" y="4038599"/>
            <a:ext cx="4381499" cy="457200"/>
          </a:xfrm>
          <a:prstGeom prst="roundRect">
            <a:avLst/>
          </a:prstGeom>
          <a:solidFill>
            <a:srgbClr val="083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rt panel heading"/>
          <p:cNvSpPr txBox="1"/>
          <p:nvPr/>
        </p:nvSpPr>
        <p:spPr>
          <a:xfrm>
            <a:off x="6845299" y="4178299"/>
            <a:ext cx="2031999" cy="17779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Creative practice</a:t>
            </a:r>
          </a:p>
        </p:txBody>
      </p:sp>
      <p:sp>
        <p:nvSpPr>
          <p:cNvPr id="40" name="Art panel subheading"/>
          <p:cNvSpPr txBox="1"/>
          <p:nvPr/>
        </p:nvSpPr>
        <p:spPr>
          <a:xfrm>
            <a:off x="6845299" y="4546600"/>
            <a:ext cx="2362199" cy="26669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26057"/>
                </a:solidFill>
                <a:latin typeface="Arial"/>
              </a:defRPr>
            </a:pPr>
            <a:r>
              <a:t>Independent art business + geometric modern art</a:t>
            </a:r>
          </a:p>
        </p:txBody>
      </p:sp>
      <p:pic>
        <p:nvPicPr>
          <p:cNvPr id="41" name="Art portfolio detail" descr="ppt-pro-ar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499" y="4495799"/>
            <a:ext cx="1650999" cy="1244599"/>
          </a:xfrm>
          <a:prstGeom prst="rect">
            <a:avLst/>
          </a:prstGeom>
        </p:spPr>
      </p:pic>
      <p:sp>
        <p:nvSpPr>
          <p:cNvPr id="42" name="Art panel copy"/>
          <p:cNvSpPr txBox="1"/>
          <p:nvPr/>
        </p:nvSpPr>
        <p:spPr>
          <a:xfrm>
            <a:off x="6845299" y="4864099"/>
            <a:ext cx="2019299" cy="609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526057"/>
                </a:solidFill>
                <a:latin typeface="Arial"/>
              </a:defRPr>
            </a:pPr>
            <a:r>
              <a:t>The art practice gives the slide a more personal dimension while staying relevant to the PRISM story: structured thinking, pattern recognition, and translating complexity into clear visual systems.</a:t>
            </a:r>
          </a:p>
        </p:txBody>
      </p:sp>
      <p:sp>
        <p:nvSpPr>
          <p:cNvPr id="43" name="Art panel accent"/>
          <p:cNvSpPr/>
          <p:nvPr/>
        </p:nvSpPr>
        <p:spPr>
          <a:xfrm>
            <a:off x="6845299" y="5600700"/>
            <a:ext cx="1460499" cy="38100"/>
          </a:xfrm>
          <a:prstGeom prst="roundRect">
            <a:avLst/>
          </a:prstGeom>
          <a:solidFill>
            <a:srgbClr val="A6E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ooter note"/>
          <p:cNvSpPr txBox="1"/>
          <p:nvPr/>
        </p:nvSpPr>
        <p:spPr>
          <a:xfrm>
            <a:off x="596899" y="6286500"/>
            <a:ext cx="2285999" cy="1651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26057"/>
                </a:solidFill>
                <a:latin typeface="Arial"/>
              </a:defRPr>
            </a:pPr>
            <a:r>
              <a:t>PRISM Data Team Presentation</a:t>
            </a:r>
          </a:p>
        </p:txBody>
      </p:sp>
      <p:sp>
        <p:nvSpPr>
          <p:cNvPr id="45" name="Footer theme"/>
          <p:cNvSpPr txBox="1"/>
          <p:nvPr/>
        </p:nvSpPr>
        <p:spPr>
          <a:xfrm>
            <a:off x="8635999" y="6286500"/>
            <a:ext cx="2285999" cy="1651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005F1B"/>
                </a:solidFill>
                <a:latin typeface="Arial"/>
              </a:defRPr>
            </a:pPr>
            <a:r>
              <a:t>Data science with a human 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