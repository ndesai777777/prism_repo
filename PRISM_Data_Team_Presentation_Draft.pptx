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2920" y="301752"/>
            <a:ext cx="10149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2600" dirty="0">
                <a:b/>
                <a:solidFill>
                  <a:srgbClr val="172033"/>
                </a:solidFill>
                <a:latin typeface="Aptos"/>
              </a:rPr>
              <a:t>PRISM: From Risk Targeting to Benefit Targeting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67085"/>
                </a:solidFill>
                <a:latin typeface="Aptos"/>
              </a:rPr>
              <a:t>Goal: identify who we can help most, not only who is most at risk.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685800" y="1508760"/>
            <a:ext cx="438912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2200" dirty="0">
                <a:b/>
                <a:solidFill>
                  <a:srgbClr val="1F2937"/>
                </a:solidFill>
                <a:latin typeface="Aptos"/>
              </a:rPr>
              <a:t>Old approach
High predicted risk
Target for program</a:t>
            </a:r>
            <a:endParaRPr lang="en-US" sz="2200" dirty="0"/>
          </a:p>
        </p:txBody>
      </p:sp>
      <p:cxnSp>
        <p:nvCxnSpPr>
          <p:cNvPr id="21" name="Connector 21"/>
          <p:cNvCxnSpPr/>
          <p:nvPr/>
        </p:nvCxnSpPr>
        <p:spPr>
          <a:xfrm>
            <a:off x="5212080" y="2304288"/>
            <a:ext cx="1051560" cy="0"/>
          </a:xfrm>
          <a:prstGeom prst="line">
            <a:avLst/>
          </a:prstGeom>
          <a:ln w="38100">
            <a:solidFill>
              <a:srgbClr val="0F766E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6446520" y="1508760"/>
            <a:ext cx="4389120" cy="1600200"/>
          </a:xfrm>
          <a:prstGeom prst="roundRect">
            <a:avLst/>
          </a:prstGeom>
          <a:solidFill>
            <a:srgbClr val="EEF7F5"/>
          </a:solidFill>
          <a:ln w="12700">
            <a:solidFill>
              <a:srgbClr val="7DD3C7"/>
            </a:solidFill>
          </a:ln>
        </p:spPr>
        <p:txBody>
          <a:bodyPr wrap="square" rtlCol="0"/>
          <a:lstStyle/>
          <a:p>
            <a:pPr algn="ctr"/>
            <a:r>
              <a:rPr lang="en-US" sz="2200" dirty="0">
                <a:b/>
                <a:solidFill>
                  <a:srgbClr val="172033"/>
                </a:solidFill>
                <a:latin typeface="Aptos"/>
              </a:rPr>
              <a:t>New PRISM approach
High expected benefit
Prioritize for program</a:t>
            </a:r>
            <a:endParaRPr lang="en-US" sz="2200" dirty="0"/>
          </a:p>
        </p:txBody>
      </p:sp>
      <p:sp>
        <p:nvSpPr>
          <p:cNvPr id="23" name="Shape 23"/>
          <p:cNvSpPr/>
          <p:nvPr/>
        </p:nvSpPr>
        <p:spPr>
          <a:xfrm>
            <a:off x="914400" y="3886200"/>
            <a:ext cx="9875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ctr"/>
            <a:r>
              <a:rPr lang="en-US" sz="2200" dirty="0">
                <a:solidFill>
                  <a:srgbClr val="1F2937"/>
                </a:solidFill>
                <a:latin typeface="Aptos"/>
              </a:rPr>
              <a:t>A member can be high-risk but not very responsive to an intervention. PRISM focuses on members whose outcomes are most likely to improve if they receive support.</a:t>
            </a:r>
            <a:endParaRPr lang="en-US" sz="2200" dirty="0"/>
          </a:p>
        </p:txBody>
      </p:sp>
      <p:sp>
        <p:nvSpPr>
          <p:cNvPr id="24" name="Shape 24"/>
          <p:cNvSpPr/>
          <p:nvPr/>
        </p:nvSpPr>
        <p:spPr>
          <a:xfrm>
            <a:off x="658368" y="6172200"/>
            <a:ext cx="9875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ptos"/>
              </a:rPr>
              <a:t>Speaker note: Open with the shift in decision logic. This is the central idea the rest of the deck supports.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2920" y="301752"/>
            <a:ext cx="10149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2600" dirty="0">
                <a:b/>
                <a:solidFill>
                  <a:srgbClr val="172033"/>
                </a:solidFill>
                <a:latin typeface="Aptos"/>
              </a:rPr>
              <a:t>Outcome: ED Outcome Within 90 Days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67085"/>
                </a:solidFill>
                <a:latin typeface="Aptos"/>
              </a:rPr>
              <a:t>A practical measure of program impact for both member health and resource planning.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685800" y="1417320"/>
            <a:ext cx="4389120" cy="10972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rtlCol="0"/>
          <a:lstStyle/>
          <a:p>
            <a:pPr algn="ctr"/>
            <a:r>
              <a:rPr lang="en-US" sz="2400" dirty="0">
                <a:b/>
                <a:solidFill>
                  <a:srgbClr val="FFFFFF"/>
                </a:solidFill>
                <a:latin typeface="Aptos"/>
              </a:rPr>
              <a:t>Dependent variable
ed_outcome_90_days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5715000" y="1417320"/>
            <a:ext cx="4389120" cy="10972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/>
          <a:lstStyle/>
          <a:p>
            <a:pPr algn="ctr"/>
            <a:r>
              <a:rPr lang="en-US" sz="2400" dirty="0">
                <a:b/>
                <a:solidFill>
                  <a:srgbClr val="FFFFFF"/>
                </a:solidFill>
                <a:latin typeface="Aptos"/>
              </a:rPr>
              <a:t>Treatment indicator
Program received: Yes / No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868680" y="3063240"/>
            <a:ext cx="2834640" cy="1325880"/>
          </a:xfrm>
          <a:prstGeom prst="roundRect">
            <a:avLst/>
          </a:prstGeom>
          <a:solidFill>
            <a:srgbClr val="FEF7E8"/>
          </a:solidFill>
          <a:ln w="12700">
            <a:solidFill>
              <a:srgbClr val="F2D193"/>
            </a:solidFill>
          </a:ln>
        </p:spPr>
        <p:txBody>
          <a:bodyPr wrap="square" rtlCol="0"/>
          <a:lstStyle/>
          <a:p>
            <a:pPr algn="ctr"/>
            <a:r>
              <a:rPr lang="en-US" sz="1900" dirty="0">
                <a:b/>
                <a:solidFill>
                  <a:srgbClr val="1F2937"/>
                </a:solidFill>
                <a:latin typeface="Aptos"/>
              </a:rPr>
              <a:t>Cost signal
Potentially avoidable ED utilization</a:t>
            </a:r>
            <a:endParaRPr lang="en-US" sz="1900" dirty="0"/>
          </a:p>
        </p:txBody>
      </p:sp>
      <p:sp>
        <p:nvSpPr>
          <p:cNvPr id="23" name="Shape 23"/>
          <p:cNvSpPr/>
          <p:nvPr/>
        </p:nvSpPr>
        <p:spPr>
          <a:xfrm>
            <a:off x="4160520" y="3063240"/>
            <a:ext cx="2834640" cy="1325880"/>
          </a:xfrm>
          <a:prstGeom prst="roundRect">
            <a:avLst/>
          </a:prstGeom>
          <a:solidFill>
            <a:srgbClr val="EEF7F5"/>
          </a:solidFill>
          <a:ln w="12700">
            <a:solidFill>
              <a:srgbClr val="7DD3C7"/>
            </a:solidFill>
          </a:ln>
        </p:spPr>
        <p:txBody>
          <a:bodyPr wrap="square" rtlCol="0"/>
          <a:lstStyle/>
          <a:p>
            <a:pPr algn="ctr"/>
            <a:r>
              <a:rPr lang="en-US" sz="1900" dirty="0">
                <a:b/>
                <a:solidFill>
                  <a:srgbClr val="1F2937"/>
                </a:solidFill>
                <a:latin typeface="Aptos"/>
              </a:rPr>
              <a:t>Clinical signal
Better member outcomes</a:t>
            </a:r>
            <a:endParaRPr lang="en-US" sz="1900" dirty="0"/>
          </a:p>
        </p:txBody>
      </p:sp>
      <p:sp>
        <p:nvSpPr>
          <p:cNvPr id="24" name="Shape 24"/>
          <p:cNvSpPr/>
          <p:nvPr/>
        </p:nvSpPr>
        <p:spPr>
          <a:xfrm>
            <a:off x="7452360" y="3063240"/>
            <a:ext cx="2834640" cy="1325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1900" dirty="0">
                <a:b/>
                <a:solidFill>
                  <a:srgbClr val="1F2937"/>
                </a:solidFill>
                <a:latin typeface="Aptos"/>
              </a:rPr>
              <a:t>Planning signal
Budget and staffing decisions</a:t>
            </a:r>
            <a:endParaRPr lang="en-US" sz="1900" dirty="0"/>
          </a:p>
        </p:txBody>
      </p:sp>
      <p:sp>
        <p:nvSpPr>
          <p:cNvPr id="25" name="Shape 25"/>
          <p:cNvSpPr/>
          <p:nvPr/>
        </p:nvSpPr>
        <p:spPr>
          <a:xfrm>
            <a:off x="914400" y="4983480"/>
            <a:ext cx="9601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solidFill>
                  <a:srgbClr val="1F2937"/>
                </a:solidFill>
                <a:latin typeface="Aptos"/>
              </a:rPr>
              <a:t>Because the outcome is measurable after program exposure, it lets us estimate whether intervention changes outcomes, not just whether a member was risky.</a:t>
            </a:r>
            <a:endParaRPr lang="en-US" sz="2100" dirty="0"/>
          </a:p>
        </p:txBody>
      </p:sp>
      <p:sp>
        <p:nvSpPr>
          <p:cNvPr id="26" name="Shape 26"/>
          <p:cNvSpPr/>
          <p:nvPr/>
        </p:nvSpPr>
        <p:spPr>
          <a:xfrm>
            <a:off x="658368" y="6172200"/>
            <a:ext cx="9875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ptos"/>
              </a:rPr>
              <a:t>Speaker note: Be explicit that if 1 = ED outcome occurred, benefit means reducing the probability of that outcome.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2920" y="301752"/>
            <a:ext cx="10149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2600" dirty="0">
                <a:b/>
                <a:solidFill>
                  <a:srgbClr val="172033"/>
                </a:solidFill>
                <a:latin typeface="Aptos"/>
              </a:rPr>
              <a:t>Data Structure: One Row Per Member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67085"/>
                </a:solidFill>
                <a:latin typeface="Aptos"/>
              </a:rPr>
              <a:t>Each row combines pre-program features, program participation, and the 90-day ED outcome.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594360" y="1325880"/>
            <a:ext cx="1005840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rtlCol="0"/>
          <a:lstStyle/>
          <a:p>
            <a:pPr algn="l"/>
            <a:r>
              <a:rPr lang="en-US" sz="1800" dirty="0">
                <a:b/>
                <a:solidFill>
                  <a:srgbClr val="FFFFFF"/>
                </a:solidFill>
                <a:latin typeface="Aptos"/>
              </a:rPr>
              <a:t>Member features                         Program received?                         ED outcome in 90 days</a:t>
            </a:r>
            <a:endParaRPr lang="en-US" sz="1800" dirty="0"/>
          </a:p>
        </p:txBody>
      </p:sp>
      <p:sp>
        <p:nvSpPr>
          <p:cNvPr id="21" name="Shape 21"/>
          <p:cNvSpPr/>
          <p:nvPr/>
        </p:nvSpPr>
        <p:spPr>
          <a:xfrm>
            <a:off x="594360" y="1828800"/>
            <a:ext cx="384048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2000" dirty="0">
                <a:b/>
                <a:solidFill>
                  <a:srgbClr val="172033"/>
                </a:solidFill>
                <a:latin typeface="Aptos"/>
              </a:rPr>
              <a:t>Feature categories</a:t>
            </a:r>
            <a:endParaRPr lang="en-US" sz="2000" dirty="0"/>
          </a:p>
        </p:txBody>
      </p:sp>
      <p:sp>
        <p:nvSpPr>
          <p:cNvPr id="22" name="Shape 22"/>
          <p:cNvSpPr/>
          <p:nvPr/>
        </p:nvSpPr>
        <p:spPr>
          <a:xfrm>
            <a:off x="91440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1800" dirty="0">
                <a:solidFill>
                  <a:srgbClr val="1F2937"/>
                </a:solidFill>
                <a:latin typeface="Aptos"/>
              </a:rPr>
              <a:t>• Demographics
• Clinical conditions
• Prior utilization
• Program/member history
• Social or risk-related factors</a:t>
            </a:r>
            <a:endParaRPr lang="en-US" sz="1800" dirty="0"/>
          </a:p>
        </p:txBody>
      </p:sp>
      <p:sp>
        <p:nvSpPr>
          <p:cNvPr id="23" name="Shape 23"/>
          <p:cNvSpPr/>
          <p:nvPr/>
        </p:nvSpPr>
        <p:spPr>
          <a:xfrm>
            <a:off x="4800600" y="1965960"/>
            <a:ext cx="2057400" cy="822960"/>
          </a:xfrm>
          <a:prstGeom prst="roundRect">
            <a:avLst/>
          </a:prstGeom>
          <a:solidFill>
            <a:srgbClr val="EEF7F5"/>
          </a:solidFill>
          <a:ln w="12700">
            <a:solidFill>
              <a:srgbClr val="7DD3C7"/>
            </a:solidFill>
          </a:ln>
        </p:spPr>
        <p:txBody>
          <a:bodyPr wrap="square" rtlCol="0"/>
          <a:lstStyle/>
          <a:p>
            <a:pPr algn="ctr"/>
            <a:r>
              <a:rPr lang="en-US" sz="2400" dirty="0">
                <a:b/>
                <a:solidFill>
                  <a:srgbClr val="0F766E"/>
                </a:solidFill>
                <a:latin typeface="Aptos"/>
              </a:rPr>
              <a:t>Yes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4800600" y="3337560"/>
            <a:ext cx="2057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2400" dirty="0">
                <a:b/>
                <a:solidFill>
                  <a:srgbClr val="1F2937"/>
                </a:solidFill>
                <a:latin typeface="Aptos"/>
              </a:rPr>
              <a:t>No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7589520" y="1965960"/>
            <a:ext cx="237744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b/>
                <a:solidFill>
                  <a:srgbClr val="C2413C"/>
                </a:solidFill>
                <a:latin typeface="Aptos"/>
              </a:rPr>
              <a:t>1 = ED outcome</a:t>
            </a:r>
            <a:endParaRPr lang="en-US" sz="2100" dirty="0"/>
          </a:p>
        </p:txBody>
      </p:sp>
      <p:sp>
        <p:nvSpPr>
          <p:cNvPr id="26" name="Shape 26"/>
          <p:cNvSpPr/>
          <p:nvPr/>
        </p:nvSpPr>
        <p:spPr>
          <a:xfrm>
            <a:off x="7589520" y="3337560"/>
            <a:ext cx="2377440" cy="82296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BEFC6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b/>
                <a:solidFill>
                  <a:srgbClr val="027A48"/>
                </a:solidFill>
                <a:latin typeface="Aptos"/>
              </a:rPr>
              <a:t>0 = no ED outcome</a:t>
            </a:r>
            <a:endParaRPr lang="en-US" sz="2100" dirty="0"/>
          </a:p>
        </p:txBody>
      </p:sp>
      <p:sp>
        <p:nvSpPr>
          <p:cNvPr id="27" name="Shape 27"/>
          <p:cNvSpPr/>
          <p:nvPr/>
        </p:nvSpPr>
        <p:spPr>
          <a:xfrm>
            <a:off x="914400" y="5074920"/>
            <a:ext cx="9509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solidFill>
                  <a:srgbClr val="1F2937"/>
                </a:solidFill>
                <a:latin typeface="Aptos"/>
              </a:rPr>
              <a:t>The model uses pre-program information to compare likely outcomes under treatment versus no treatment.</a:t>
            </a:r>
            <a:endParaRPr lang="en-US" sz="2100" dirty="0"/>
          </a:p>
        </p:txBody>
      </p:sp>
      <p:sp>
        <p:nvSpPr>
          <p:cNvPr id="28" name="Shape 28"/>
          <p:cNvSpPr/>
          <p:nvPr/>
        </p:nvSpPr>
        <p:spPr>
          <a:xfrm>
            <a:off x="658368" y="6172200"/>
            <a:ext cx="9875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ptos"/>
              </a:rPr>
              <a:t>Speaker note: Replace feature category names if your final data dictionary uses different labels.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2920" y="301752"/>
            <a:ext cx="10149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2600" dirty="0">
                <a:b/>
                <a:solidFill>
                  <a:srgbClr val="172033"/>
                </a:solidFill>
                <a:latin typeface="Aptos"/>
              </a:rPr>
              <a:t>Method: T-Learner for Individualized Benefit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67085"/>
                </a:solidFill>
                <a:latin typeface="Aptos"/>
              </a:rPr>
              <a:t>Two predictive models estimate what may happen with and without the program.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731520" y="2194560"/>
            <a:ext cx="21945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2200" dirty="0">
                <a:b/>
                <a:solidFill>
                  <a:srgbClr val="1F2937"/>
                </a:solidFill>
                <a:latin typeface="Aptos"/>
              </a:rPr>
              <a:t>Member
features</a:t>
            </a:r>
            <a:endParaRPr lang="en-US" sz="2200" dirty="0"/>
          </a:p>
        </p:txBody>
      </p:sp>
      <p:cxnSp>
        <p:nvCxnSpPr>
          <p:cNvPr id="21" name="Connector 21"/>
          <p:cNvCxnSpPr/>
          <p:nvPr/>
        </p:nvCxnSpPr>
        <p:spPr>
          <a:xfrm>
            <a:off x="3063240" y="1965960"/>
            <a:ext cx="731520" cy="68580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3063240" y="2651760"/>
            <a:ext cx="731520" cy="77724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3886200" y="1325880"/>
            <a:ext cx="2926080" cy="960120"/>
          </a:xfrm>
          <a:prstGeom prst="roundRect">
            <a:avLst/>
          </a:prstGeom>
          <a:solidFill>
            <a:srgbClr val="EEF7F5"/>
          </a:solidFill>
          <a:ln w="12700">
            <a:solidFill>
              <a:srgbClr val="7DD3C7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b/>
                <a:solidFill>
                  <a:srgbClr val="172033"/>
                </a:solidFill>
                <a:latin typeface="Aptos"/>
              </a:rPr>
              <a:t>Model A
ED risk if treated</a:t>
            </a:r>
            <a:endParaRPr lang="en-US" sz="2100" dirty="0"/>
          </a:p>
        </p:txBody>
      </p:sp>
      <p:sp>
        <p:nvSpPr>
          <p:cNvPr id="24" name="Shape 24"/>
          <p:cNvSpPr/>
          <p:nvPr/>
        </p:nvSpPr>
        <p:spPr>
          <a:xfrm>
            <a:off x="3886200" y="3017520"/>
            <a:ext cx="29260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b/>
                <a:solidFill>
                  <a:srgbClr val="172033"/>
                </a:solidFill>
                <a:latin typeface="Aptos"/>
              </a:rPr>
              <a:t>Model B
ED risk if untreated</a:t>
            </a:r>
            <a:endParaRPr lang="en-US" sz="2100" dirty="0"/>
          </a:p>
        </p:txBody>
      </p:sp>
      <p:cxnSp>
        <p:nvCxnSpPr>
          <p:cNvPr id="25" name="Connector 25"/>
          <p:cNvCxnSpPr/>
          <p:nvPr/>
        </p:nvCxnSpPr>
        <p:spPr>
          <a:xfrm>
            <a:off x="6949440" y="1810512"/>
            <a:ext cx="1005839" cy="704088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cxnSp>
        <p:nvCxnSpPr>
          <p:cNvPr id="26" name="Connector 26"/>
          <p:cNvCxnSpPr/>
          <p:nvPr/>
        </p:nvCxnSpPr>
        <p:spPr>
          <a:xfrm>
            <a:off x="6949440" y="2788920"/>
            <a:ext cx="1005839" cy="73152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27" name="Shape 27"/>
          <p:cNvSpPr/>
          <p:nvPr/>
        </p:nvSpPr>
        <p:spPr>
          <a:xfrm>
            <a:off x="8092440" y="2057400"/>
            <a:ext cx="2468880" cy="1051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rtlCol="0"/>
          <a:lstStyle/>
          <a:p>
            <a:pPr algn="ctr"/>
            <a:r>
              <a:rPr lang="en-US" sz="1900" dirty="0">
                <a:b/>
                <a:solidFill>
                  <a:srgbClr val="FFFFFF"/>
                </a:solidFill>
                <a:latin typeface="Aptos"/>
              </a:rPr>
              <a:t>Estimated benefit
Untreated risk − treated risk</a:t>
            </a:r>
            <a:endParaRPr lang="en-US" sz="1900" dirty="0"/>
          </a:p>
        </p:txBody>
      </p:sp>
      <p:sp>
        <p:nvSpPr>
          <p:cNvPr id="28" name="Shape 28"/>
          <p:cNvSpPr/>
          <p:nvPr/>
        </p:nvSpPr>
        <p:spPr>
          <a:xfrm>
            <a:off x="1005840" y="4754880"/>
            <a:ext cx="9326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ctr"/>
            <a:r>
              <a:rPr lang="en-US" sz="2100" dirty="0">
                <a:solidFill>
                  <a:srgbClr val="1F2937"/>
                </a:solidFill>
                <a:latin typeface="Aptos"/>
              </a:rPr>
              <a:t>If the outcome is an ED event, a larger positive difference suggests a larger expected reduction in ED risk from program participation.</a:t>
            </a:r>
            <a:endParaRPr lang="en-US" sz="2100" dirty="0"/>
          </a:p>
        </p:txBody>
      </p:sp>
      <p:sp>
        <p:nvSpPr>
          <p:cNvPr id="29" name="Shape 29"/>
          <p:cNvSpPr/>
          <p:nvPr/>
        </p:nvSpPr>
        <p:spPr>
          <a:xfrm>
            <a:off x="658368" y="6172200"/>
            <a:ext cx="9875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ptos"/>
              </a:rPr>
              <a:t>Speaker note: Keep this intuitive. The goal is to explain the counterfactual comparison, not every causal assumption.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2920" y="301752"/>
            <a:ext cx="10149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2600" dirty="0">
                <a:b/>
                <a:solidFill>
                  <a:srgbClr val="172033"/>
                </a:solidFill>
                <a:latin typeface="Aptos"/>
              </a:rPr>
              <a:t>Using Results: Prioritize and Explain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67085"/>
                </a:solidFill>
                <a:latin typeface="Aptos"/>
              </a:rPr>
              <a:t>Turn estimated benefit into practical decision support for program teams.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594360" y="1325880"/>
            <a:ext cx="1965960" cy="960120"/>
          </a:xfrm>
          <a:prstGeom prst="roundRect">
            <a:avLst/>
          </a:prstGeom>
          <a:solidFill>
            <a:srgbClr val="EEF7F5"/>
          </a:solidFill>
          <a:ln w="12700">
            <a:solidFill>
              <a:srgbClr val="7DD3C7"/>
            </a:solidFill>
          </a:ln>
        </p:spPr>
        <p:txBody>
          <a:bodyPr wrap="square" rtlCol="0"/>
          <a:lstStyle/>
          <a:p>
            <a:pPr algn="ctr"/>
            <a:r>
              <a:rPr lang="en-US" sz="1700" dirty="0">
                <a:b/>
                <a:solidFill>
                  <a:srgbClr val="172033"/>
                </a:solidFill>
                <a:latin typeface="Aptos"/>
              </a:rPr>
              <a:t>1
Rank members by estimated benefit</a:t>
            </a:r>
            <a:endParaRPr lang="en-US" sz="1700" dirty="0"/>
          </a:p>
        </p:txBody>
      </p:sp>
      <p:cxnSp>
        <p:nvCxnSpPr>
          <p:cNvPr id="21" name="Connector 21"/>
          <p:cNvCxnSpPr/>
          <p:nvPr/>
        </p:nvCxnSpPr>
        <p:spPr>
          <a:xfrm>
            <a:off x="2651760" y="1810512"/>
            <a:ext cx="5029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3246120" y="1325880"/>
            <a:ext cx="1965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1700" dirty="0">
                <a:b/>
                <a:solidFill>
                  <a:srgbClr val="172033"/>
                </a:solidFill>
                <a:latin typeface="Aptos"/>
              </a:rPr>
              <a:t>2
Split into benefit deciles</a:t>
            </a:r>
            <a:endParaRPr lang="en-US" sz="1700" dirty="0"/>
          </a:p>
        </p:txBody>
      </p:sp>
      <p:cxnSp>
        <p:nvCxnSpPr>
          <p:cNvPr id="23" name="Connector 23"/>
          <p:cNvCxnSpPr/>
          <p:nvPr/>
        </p:nvCxnSpPr>
        <p:spPr>
          <a:xfrm>
            <a:off x="5303520" y="1810512"/>
            <a:ext cx="5029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5897880" y="1325880"/>
            <a:ext cx="1965960" cy="960120"/>
          </a:xfrm>
          <a:prstGeom prst="roundRect">
            <a:avLst/>
          </a:prstGeom>
          <a:solidFill>
            <a:srgbClr val="FEF7E8"/>
          </a:solidFill>
          <a:ln w="12700">
            <a:solidFill>
              <a:srgbClr val="F2D193"/>
            </a:solidFill>
          </a:ln>
        </p:spPr>
        <p:txBody>
          <a:bodyPr wrap="square" rtlCol="0"/>
          <a:lstStyle/>
          <a:p>
            <a:pPr algn="ctr"/>
            <a:r>
              <a:rPr lang="en-US" sz="1700" dirty="0">
                <a:b/>
                <a:solidFill>
                  <a:srgbClr val="172033"/>
                </a:solidFill>
                <a:latin typeface="Aptos"/>
              </a:rPr>
              <a:t>3
Focus on highest-benefit groups</a:t>
            </a:r>
            <a:endParaRPr lang="en-US" sz="1700" dirty="0"/>
          </a:p>
        </p:txBody>
      </p:sp>
      <p:cxnSp>
        <p:nvCxnSpPr>
          <p:cNvPr id="25" name="Connector 25"/>
          <p:cNvCxnSpPr/>
          <p:nvPr/>
        </p:nvCxnSpPr>
        <p:spPr>
          <a:xfrm>
            <a:off x="7955279" y="1810512"/>
            <a:ext cx="502921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26" name="Shape 26"/>
          <p:cNvSpPr/>
          <p:nvPr/>
        </p:nvSpPr>
        <p:spPr>
          <a:xfrm>
            <a:off x="8549640" y="1325880"/>
            <a:ext cx="1965960" cy="960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rtlCol="0"/>
          <a:lstStyle/>
          <a:p>
            <a:pPr algn="ctr"/>
            <a:r>
              <a:rPr lang="en-US" sz="1700" dirty="0">
                <a:b/>
                <a:solidFill>
                  <a:srgbClr val="FFFFFF"/>
                </a:solidFill>
                <a:latin typeface="Aptos"/>
              </a:rPr>
              <a:t>4
Explain drivers with SHAP</a:t>
            </a:r>
            <a:endParaRPr lang="en-US" sz="1700" dirty="0"/>
          </a:p>
        </p:txBody>
      </p:sp>
      <p:sp>
        <p:nvSpPr>
          <p:cNvPr id="27" name="Shape 27"/>
          <p:cNvSpPr/>
          <p:nvPr/>
        </p:nvSpPr>
        <p:spPr>
          <a:xfrm>
            <a:off x="914400" y="3063240"/>
            <a:ext cx="45262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txBody>
          <a:bodyPr wrap="square" rtlCol="0"/>
          <a:lstStyle/>
          <a:p>
            <a:pPr algn="ctr"/>
            <a:r>
              <a:rPr lang="en-US" sz="1900" dirty="0">
                <a:b/>
                <a:solidFill>
                  <a:srgbClr val="1F2937"/>
                </a:solidFill>
                <a:latin typeface="Aptos"/>
              </a:rPr>
              <a:t>SHAP explanation
Shows which features pushed an individual member's predicted benefit higher or lower.</a:t>
            </a:r>
            <a:endParaRPr lang="en-US" sz="1900" dirty="0"/>
          </a:p>
        </p:txBody>
      </p:sp>
      <p:sp>
        <p:nvSpPr>
          <p:cNvPr id="28" name="Shape 28"/>
          <p:cNvSpPr/>
          <p:nvPr/>
        </p:nvSpPr>
        <p:spPr>
          <a:xfrm>
            <a:off x="5806440" y="3063240"/>
            <a:ext cx="4526280" cy="1280160"/>
          </a:xfrm>
          <a:prstGeom prst="roundRect">
            <a:avLst/>
          </a:prstGeom>
          <a:solidFill>
            <a:srgbClr val="EEF7F5"/>
          </a:solidFill>
          <a:ln w="12700">
            <a:solidFill>
              <a:srgbClr val="7DD3C7"/>
            </a:solidFill>
          </a:ln>
        </p:spPr>
        <p:txBody>
          <a:bodyPr wrap="square" rtlCol="0"/>
          <a:lstStyle/>
          <a:p>
            <a:pPr algn="ctr"/>
            <a:r>
              <a:rPr lang="en-US" sz="1900" dirty="0">
                <a:b/>
                <a:solidFill>
                  <a:srgbClr val="1F2937"/>
                </a:solidFill>
                <a:latin typeface="Aptos"/>
              </a:rPr>
              <a:t>Dashboard vision
Recommend who to prioritize and explain which specific features make them a strong candidate.</a:t>
            </a:r>
            <a:endParaRPr lang="en-US" sz="1900" dirty="0"/>
          </a:p>
        </p:txBody>
      </p:sp>
      <p:sp>
        <p:nvSpPr>
          <p:cNvPr id="29" name="Shape 29"/>
          <p:cNvSpPr/>
          <p:nvPr/>
        </p:nvSpPr>
        <p:spPr>
          <a:xfrm>
            <a:off x="1005840" y="5166360"/>
            <a:ext cx="9144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ctr"/>
            <a:r>
              <a:rPr lang="en-US" sz="2000" dirty="0">
                <a:solidFill>
                  <a:srgbClr val="1F2937"/>
                </a:solidFill>
                <a:latin typeface="Aptos"/>
              </a:rPr>
              <a:t>Output should be more than a score: it should support transparent, targeted, and budget-aware program decisions.</a:t>
            </a:r>
            <a:endParaRPr lang="en-US" sz="2000" dirty="0"/>
          </a:p>
        </p:txBody>
      </p:sp>
      <p:sp>
        <p:nvSpPr>
          <p:cNvPr id="30" name="Shape 30"/>
          <p:cNvSpPr/>
          <p:nvPr/>
        </p:nvSpPr>
        <p:spPr>
          <a:xfrm>
            <a:off x="658368" y="6172200"/>
            <a:ext cx="9875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ptos"/>
              </a:rPr>
              <a:t>Speaker note: Close by tying model output to action: who to help first, and why they are a good candidate.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SM Draft">
  <a:themeElements>
    <a:clrScheme name="PRISM">
      <a:dk1>
        <a:srgbClr val="172033"/>
      </a:dk1>
      <a:lt1>
        <a:srgbClr val="FFFFFF"/>
      </a:lt1>
      <a:dk2>
        <a:srgbClr val="1F2937"/>
      </a:dk2>
      <a:lt2>
        <a:srgbClr val="F7FAFC"/>
      </a:lt2>
      <a:accent1>
        <a:srgbClr val="0F766E"/>
      </a:accent1>
      <a:accent2>
        <a:srgbClr val="7DD3C7"/>
      </a:accent2>
      <a:accent3>
        <a:srgbClr val="E2A72E"/>
      </a:accent3>
      <a:accent4>
        <a:srgbClr val="C2413C"/>
      </a:accent4>
      <a:accent5>
        <a:srgbClr val="667085"/>
      </a:accent5>
      <a:accent6>
        <a:srgbClr val="EEF7F5"/>
      </a:accent6>
      <a:hlink>
        <a:srgbClr val="0F766E"/>
      </a:hlink>
      <a:folHlink>
        <a:srgbClr val="172033"/>
      </a:folHlink>
    </a:clrScheme>
    <a:fontScheme name="Aptos">
      <a:majorFont>
        <a:latin typeface="Aptos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