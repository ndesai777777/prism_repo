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6101"/>
          </a:solidFill>
          <a:ln>
            <a:noFill/>
          </a:ln>
        </p:spPr>
      </p:sp>
      <p:sp>
        <p:nvSpPr>
          <p:cNvPr id="3" name="section tag"/>
          <p:cNvSpPr/>
          <p:nvPr/>
        </p:nvSpPr>
        <p:spPr>
          <a:xfrm>
            <a:off x="548640" y="5836920"/>
            <a:ext cx="1752600" cy="274320"/>
          </a:xfrm>
          <a:prstGeom prst="roundRect">
            <a:avLst/>
          </a:prstGeom>
          <a:solidFill>
            <a:srgbClr val="2BBC2B"/>
          </a:solidFill>
          <a:ln w="20320">
            <a:solidFill>
              <a:srgbClr val="2BBC2B"/>
            </a:solidFill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cs typeface="Arial"/>
              </a:rPr>
              <a:t>T-LEARNER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5494020"/>
            <a:ext cx="6324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Arial"/>
                <a:cs typeface="Arial"/>
              </a:rPr>
              <a:t>How the T-Learner Framework Works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48640" y="5227320"/>
            <a:ext cx="9601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l"/>
            <a:r>
              <a:rPr lang="en-US" sz="1350" dirty="0">
                <a:solidFill>
                  <a:srgbClr val="E9FFE1"/>
                </a:solidFill>
                <a:latin typeface="Arial"/>
                <a:cs typeface="Arial"/>
              </a:rPr>
              <a:t>The training dataset has 700 total member rows. It is split by actual program status so two outcome models can learn separately.</a:t>
            </a:r>
          </a:p>
        </p:txBody>
      </p:sp>
      <p:sp>
        <p:nvSpPr>
          <p:cNvPr id="6" name="main white workspace"/>
          <p:cNvSpPr/>
          <p:nvPr/>
        </p:nvSpPr>
        <p:spPr>
          <a:xfrm>
            <a:off x="472440" y="548640"/>
            <a:ext cx="11247120" cy="4434840"/>
          </a:xfrm>
          <a:prstGeom prst="roundRect">
            <a:avLst/>
          </a:prstGeom>
          <a:solidFill>
            <a:srgbClr val="F7FFF3"/>
          </a:solidFill>
          <a:ln w="25400">
            <a:solidFill>
              <a:srgbClr val="B4EA54"/>
            </a:solidFill>
          </a:ln>
        </p:spPr>
      </p:sp>
      <p:sp>
        <p:nvSpPr>
          <p:cNvPr id="7" name="step 1  Training data"/>
          <p:cNvSpPr/>
          <p:nvPr/>
        </p:nvSpPr>
        <p:spPr>
          <a:xfrm>
            <a:off x="716280" y="4754880"/>
            <a:ext cx="1188720" cy="320040"/>
          </a:xfrm>
          <a:prstGeom prst="roundRect">
            <a:avLst/>
          </a:prstGeom>
          <a:solidFill>
            <a:srgbClr val="2BBC2B"/>
          </a:solidFill>
          <a:ln w="20320">
            <a:solidFill>
              <a:srgbClr val="2BBC2B"/>
            </a:solidFill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/>
                <a:cs typeface="Arial"/>
              </a:rPr>
              <a:t>1  Training data</a:t>
            </a:r>
          </a:p>
        </p:txBody>
      </p:sp>
      <p:sp>
        <p:nvSpPr>
          <p:cNvPr id="8" name="step 2  Split rows"/>
          <p:cNvSpPr/>
          <p:nvPr/>
        </p:nvSpPr>
        <p:spPr>
          <a:xfrm>
            <a:off x="3048000" y="4754880"/>
            <a:ext cx="1188720" cy="320040"/>
          </a:xfrm>
          <a:prstGeom prst="roundRect">
            <a:avLst/>
          </a:prstGeom>
          <a:solidFill>
            <a:srgbClr val="B4EA54"/>
          </a:solidFill>
          <a:ln w="20320">
            <a:solidFill>
              <a:srgbClr val="B4EA54"/>
            </a:solidFill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950" b="1" dirty="0">
                <a:solidFill>
                  <a:srgbClr val="016101"/>
                </a:solidFill>
                <a:latin typeface="Arial"/>
                <a:cs typeface="Arial"/>
              </a:rPr>
              <a:t>2  Split rows</a:t>
            </a:r>
          </a:p>
        </p:txBody>
      </p:sp>
      <p:sp>
        <p:nvSpPr>
          <p:cNvPr id="9" name="step 3  Train two models"/>
          <p:cNvSpPr/>
          <p:nvPr/>
        </p:nvSpPr>
        <p:spPr>
          <a:xfrm>
            <a:off x="5303520" y="4754880"/>
            <a:ext cx="1188720" cy="320040"/>
          </a:xfrm>
          <a:prstGeom prst="roundRect">
            <a:avLst/>
          </a:prstGeom>
          <a:solidFill>
            <a:srgbClr val="2BBC2B"/>
          </a:solidFill>
          <a:ln w="20320">
            <a:solidFill>
              <a:srgbClr val="2BBC2B"/>
            </a:solidFill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/>
                <a:cs typeface="Arial"/>
              </a:rPr>
              <a:t>3  Train two models</a:t>
            </a:r>
          </a:p>
        </p:txBody>
      </p:sp>
      <p:sp>
        <p:nvSpPr>
          <p:cNvPr id="10" name="step 4  Score same member"/>
          <p:cNvSpPr/>
          <p:nvPr/>
        </p:nvSpPr>
        <p:spPr>
          <a:xfrm>
            <a:off x="7940040" y="4754880"/>
            <a:ext cx="1188720" cy="320040"/>
          </a:xfrm>
          <a:prstGeom prst="roundRect">
            <a:avLst/>
          </a:prstGeom>
          <a:solidFill>
            <a:srgbClr val="B4EA54"/>
          </a:solidFill>
          <a:ln w="20320">
            <a:solidFill>
              <a:srgbClr val="B4EA54"/>
            </a:solidFill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950" b="1" dirty="0">
                <a:solidFill>
                  <a:srgbClr val="016101"/>
                </a:solidFill>
                <a:latin typeface="Arial"/>
                <a:cs typeface="Arial"/>
              </a:rPr>
              <a:t>4  Score same member</a:t>
            </a:r>
          </a:p>
        </p:txBody>
      </p:sp>
      <p:sp>
        <p:nvSpPr>
          <p:cNvPr id="11" name="step 5  Compare"/>
          <p:cNvSpPr/>
          <p:nvPr/>
        </p:nvSpPr>
        <p:spPr>
          <a:xfrm>
            <a:off x="10165080" y="4754880"/>
            <a:ext cx="1188720" cy="320040"/>
          </a:xfrm>
          <a:prstGeom prst="roundRect">
            <a:avLst/>
          </a:prstGeom>
          <a:solidFill>
            <a:srgbClr val="2BBC2B"/>
          </a:solidFill>
          <a:ln w="20320">
            <a:solidFill>
              <a:srgbClr val="2BBC2B"/>
            </a:solidFill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/>
                <a:cs typeface="Arial"/>
              </a:rPr>
              <a:t>5  Compare</a:t>
            </a:r>
          </a:p>
        </p:txBody>
      </p:sp>
      <p:sp>
        <p:nvSpPr>
          <p:cNvPr id="12" name="training data card"/>
          <p:cNvSpPr/>
          <p:nvPr/>
        </p:nvSpPr>
        <p:spPr>
          <a:xfrm>
            <a:off x="746760" y="2651760"/>
            <a:ext cx="1866900" cy="1661160"/>
          </a:xfrm>
          <a:prstGeom prst="roundRect">
            <a:avLst/>
          </a:prstGeom>
          <a:solidFill>
            <a:srgbClr val="E9FFE1"/>
          </a:solidFill>
          <a:ln w="27940">
            <a:solidFill>
              <a:srgbClr val="B4EA54"/>
            </a:solidFill>
          </a:ln>
        </p:spPr>
      </p:sp>
      <p:sp>
        <p:nvSpPr>
          <p:cNvPr id="13" name="training data title"/>
          <p:cNvSpPr txBox="1"/>
          <p:nvPr/>
        </p:nvSpPr>
        <p:spPr>
          <a:xfrm>
            <a:off x="876300" y="3855720"/>
            <a:ext cx="1600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1750" b="1" dirty="0">
                <a:solidFill>
                  <a:srgbClr val="003900"/>
                </a:solidFill>
                <a:latin typeface="Arial"/>
                <a:cs typeface="Arial"/>
              </a:rPr>
              <a:t>Training Data</a:t>
            </a:r>
          </a:p>
        </p:txBody>
      </p:sp>
      <p:sp>
        <p:nvSpPr>
          <p:cNvPr id="14" name="training data count"/>
          <p:cNvSpPr txBox="1"/>
          <p:nvPr/>
        </p:nvSpPr>
        <p:spPr>
          <a:xfrm>
            <a:off x="1005840" y="3627120"/>
            <a:ext cx="135636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1300" b="1" dirty="0">
                <a:solidFill>
                  <a:srgbClr val="003900"/>
                </a:solidFill>
                <a:latin typeface="Arial"/>
                <a:cs typeface="Arial"/>
              </a:rPr>
              <a:t>700 total rows</a:t>
            </a:r>
          </a:p>
        </p:txBody>
      </p:sp>
      <p:sp>
        <p:nvSpPr>
          <p:cNvPr id="15" name="training data fields"/>
          <p:cNvSpPr txBox="1"/>
          <p:nvPr/>
        </p:nvSpPr>
        <p:spPr>
          <a:xfrm>
            <a:off x="838200" y="3093720"/>
            <a:ext cx="16764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1040" dirty="0">
                <a:solidFill>
                  <a:srgbClr val="003900"/>
                </a:solidFill>
                <a:latin typeface="Arial"/>
                <a:cs typeface="Arial"/>
              </a:rPr>
              <a:t>Each row includes:</a:t>
            </a:r>
          </a:p>
          <a:p>
            <a:pPr algn="ctr"/>
            <a:r>
              <a:rPr lang="en-US" sz="1040" dirty="0">
                <a:solidFill>
                  <a:srgbClr val="003900"/>
                </a:solidFill>
                <a:latin typeface="Arial"/>
                <a:cs typeface="Arial"/>
              </a:rPr>
              <a:t>X = pre-treatment features</a:t>
            </a:r>
          </a:p>
          <a:p>
            <a:pPr algn="ctr"/>
            <a:r>
              <a:rPr lang="en-US" sz="1040" dirty="0">
                <a:solidFill>
                  <a:srgbClr val="003900"/>
                </a:solidFill>
                <a:latin typeface="Arial"/>
                <a:cs typeface="Arial"/>
              </a:rPr>
              <a:t>T = actual program status</a:t>
            </a:r>
          </a:p>
          <a:p>
            <a:pPr algn="ctr"/>
            <a:r>
              <a:rPr lang="en-US" sz="1040" dirty="0">
                <a:solidFill>
                  <a:srgbClr val="003900"/>
                </a:solidFill>
                <a:latin typeface="Arial"/>
                <a:cs typeface="Arial"/>
              </a:rPr>
              <a:t>Y = observed 90-day ED outcome</a:t>
            </a:r>
          </a:p>
        </p:txBody>
      </p:sp>
      <p:sp>
        <p:nvSpPr>
          <p:cNvPr id="16" name="sample training row"/>
          <p:cNvSpPr/>
          <p:nvPr/>
        </p:nvSpPr>
        <p:spPr>
          <a:xfrm>
            <a:off x="1230630" y="2846070"/>
            <a:ext cx="68580" cy="68580"/>
          </a:xfrm>
          <a:prstGeom prst="ellipse">
            <a:avLst/>
          </a:prstGeom>
          <a:solidFill>
            <a:srgbClr val="2BBC2B"/>
          </a:solidFill>
          <a:ln>
            <a:noFill/>
          </a:ln>
        </p:spPr>
      </p:sp>
      <p:sp>
        <p:nvSpPr>
          <p:cNvPr id="17" name="sample training row"/>
          <p:cNvSpPr/>
          <p:nvPr/>
        </p:nvSpPr>
        <p:spPr>
          <a:xfrm>
            <a:off x="1375410" y="2846070"/>
            <a:ext cx="68580" cy="68580"/>
          </a:xfrm>
          <a:prstGeom prst="ellipse">
            <a:avLst/>
          </a:prstGeom>
          <a:solidFill>
            <a:srgbClr val="2BBC2B"/>
          </a:solidFill>
          <a:ln>
            <a:noFill/>
          </a:ln>
        </p:spPr>
      </p:sp>
      <p:sp>
        <p:nvSpPr>
          <p:cNvPr id="18" name="sample training row"/>
          <p:cNvSpPr/>
          <p:nvPr/>
        </p:nvSpPr>
        <p:spPr>
          <a:xfrm>
            <a:off x="1520190" y="2846070"/>
            <a:ext cx="68580" cy="68580"/>
          </a:xfrm>
          <a:prstGeom prst="ellipse">
            <a:avLst/>
          </a:prstGeom>
          <a:solidFill>
            <a:srgbClr val="2BBC2B"/>
          </a:solidFill>
          <a:ln>
            <a:noFill/>
          </a:ln>
        </p:spPr>
      </p:sp>
      <p:sp>
        <p:nvSpPr>
          <p:cNvPr id="19" name="sample training row"/>
          <p:cNvSpPr/>
          <p:nvPr/>
        </p:nvSpPr>
        <p:spPr>
          <a:xfrm>
            <a:off x="1664970" y="2846070"/>
            <a:ext cx="68580" cy="68580"/>
          </a:xfrm>
          <a:prstGeom prst="ellipse">
            <a:avLst/>
          </a:prstGeom>
          <a:solidFill>
            <a:srgbClr val="2BBC2B"/>
          </a:solidFill>
          <a:ln>
            <a:noFill/>
          </a:ln>
        </p:spPr>
      </p:sp>
      <p:sp>
        <p:nvSpPr>
          <p:cNvPr id="20" name="sample training row"/>
          <p:cNvSpPr/>
          <p:nvPr/>
        </p:nvSpPr>
        <p:spPr>
          <a:xfrm>
            <a:off x="1809750" y="2846070"/>
            <a:ext cx="68580" cy="68580"/>
          </a:xfrm>
          <a:prstGeom prst="ellipse">
            <a:avLst/>
          </a:prstGeom>
          <a:solidFill>
            <a:srgbClr val="B4EA54"/>
          </a:solidFill>
          <a:ln>
            <a:noFill/>
          </a:ln>
        </p:spPr>
      </p:sp>
      <p:sp>
        <p:nvSpPr>
          <p:cNvPr id="21" name="sample training row"/>
          <p:cNvSpPr/>
          <p:nvPr/>
        </p:nvSpPr>
        <p:spPr>
          <a:xfrm>
            <a:off x="1954530" y="2846070"/>
            <a:ext cx="68580" cy="68580"/>
          </a:xfrm>
          <a:prstGeom prst="ellipse">
            <a:avLst/>
          </a:prstGeom>
          <a:solidFill>
            <a:srgbClr val="B4EA54"/>
          </a:solidFill>
          <a:ln>
            <a:noFill/>
          </a:ln>
        </p:spPr>
      </p:sp>
      <p:sp>
        <p:nvSpPr>
          <p:cNvPr id="22" name="sample training row"/>
          <p:cNvSpPr/>
          <p:nvPr/>
        </p:nvSpPr>
        <p:spPr>
          <a:xfrm>
            <a:off x="2099310" y="2846070"/>
            <a:ext cx="68580" cy="68580"/>
          </a:xfrm>
          <a:prstGeom prst="ellipse">
            <a:avLst/>
          </a:prstGeom>
          <a:solidFill>
            <a:srgbClr val="B4EA54"/>
          </a:solidFill>
          <a:ln>
            <a:noFill/>
          </a:ln>
        </p:spPr>
      </p:sp>
      <p:sp>
        <p:nvSpPr>
          <p:cNvPr id="23" name="sample training row"/>
          <p:cNvSpPr/>
          <p:nvPr/>
        </p:nvSpPr>
        <p:spPr>
          <a:xfrm>
            <a:off x="2244090" y="2846070"/>
            <a:ext cx="68580" cy="68580"/>
          </a:xfrm>
          <a:prstGeom prst="ellipse">
            <a:avLst/>
          </a:prstGeom>
          <a:solidFill>
            <a:srgbClr val="B4EA54"/>
          </a:solidFill>
          <a:ln>
            <a:noFill/>
          </a:ln>
        </p:spPr>
      </p:sp>
      <p:sp>
        <p:nvSpPr>
          <p:cNvPr id="24" name="sample training row"/>
          <p:cNvSpPr/>
          <p:nvPr/>
        </p:nvSpPr>
        <p:spPr>
          <a:xfrm>
            <a:off x="1230630" y="2701290"/>
            <a:ext cx="68580" cy="68580"/>
          </a:xfrm>
          <a:prstGeom prst="ellipse">
            <a:avLst/>
          </a:prstGeom>
          <a:solidFill>
            <a:srgbClr val="2BBC2B"/>
          </a:solidFill>
          <a:ln>
            <a:noFill/>
          </a:ln>
        </p:spPr>
      </p:sp>
      <p:sp>
        <p:nvSpPr>
          <p:cNvPr id="25" name="sample training row"/>
          <p:cNvSpPr/>
          <p:nvPr/>
        </p:nvSpPr>
        <p:spPr>
          <a:xfrm>
            <a:off x="1375410" y="2701290"/>
            <a:ext cx="68580" cy="68580"/>
          </a:xfrm>
          <a:prstGeom prst="ellipse">
            <a:avLst/>
          </a:prstGeom>
          <a:solidFill>
            <a:srgbClr val="2BBC2B"/>
          </a:solidFill>
          <a:ln>
            <a:noFill/>
          </a:ln>
        </p:spPr>
      </p:sp>
      <p:sp>
        <p:nvSpPr>
          <p:cNvPr id="26" name="sample training row"/>
          <p:cNvSpPr/>
          <p:nvPr/>
        </p:nvSpPr>
        <p:spPr>
          <a:xfrm>
            <a:off x="1520190" y="2701290"/>
            <a:ext cx="68580" cy="68580"/>
          </a:xfrm>
          <a:prstGeom prst="ellipse">
            <a:avLst/>
          </a:prstGeom>
          <a:solidFill>
            <a:srgbClr val="2BBC2B"/>
          </a:solidFill>
          <a:ln>
            <a:noFill/>
          </a:ln>
        </p:spPr>
      </p:sp>
      <p:sp>
        <p:nvSpPr>
          <p:cNvPr id="27" name="sample training row"/>
          <p:cNvSpPr/>
          <p:nvPr/>
        </p:nvSpPr>
        <p:spPr>
          <a:xfrm>
            <a:off x="1664970" y="2701290"/>
            <a:ext cx="68580" cy="68580"/>
          </a:xfrm>
          <a:prstGeom prst="ellipse">
            <a:avLst/>
          </a:prstGeom>
          <a:solidFill>
            <a:srgbClr val="2BBC2B"/>
          </a:solidFill>
          <a:ln>
            <a:noFill/>
          </a:ln>
        </p:spPr>
      </p:sp>
      <p:sp>
        <p:nvSpPr>
          <p:cNvPr id="28" name="sample training row"/>
          <p:cNvSpPr/>
          <p:nvPr/>
        </p:nvSpPr>
        <p:spPr>
          <a:xfrm>
            <a:off x="1809750" y="2701290"/>
            <a:ext cx="68580" cy="68580"/>
          </a:xfrm>
          <a:prstGeom prst="ellipse">
            <a:avLst/>
          </a:prstGeom>
          <a:solidFill>
            <a:srgbClr val="B4EA54"/>
          </a:solidFill>
          <a:ln>
            <a:noFill/>
          </a:ln>
        </p:spPr>
      </p:sp>
      <p:sp>
        <p:nvSpPr>
          <p:cNvPr id="29" name="sample training row"/>
          <p:cNvSpPr/>
          <p:nvPr/>
        </p:nvSpPr>
        <p:spPr>
          <a:xfrm>
            <a:off x="1954530" y="2701290"/>
            <a:ext cx="68580" cy="68580"/>
          </a:xfrm>
          <a:prstGeom prst="ellipse">
            <a:avLst/>
          </a:prstGeom>
          <a:solidFill>
            <a:srgbClr val="B4EA54"/>
          </a:solidFill>
          <a:ln>
            <a:noFill/>
          </a:ln>
        </p:spPr>
      </p:sp>
      <p:sp>
        <p:nvSpPr>
          <p:cNvPr id="30" name="sample training row"/>
          <p:cNvSpPr/>
          <p:nvPr/>
        </p:nvSpPr>
        <p:spPr>
          <a:xfrm>
            <a:off x="2099310" y="2701290"/>
            <a:ext cx="68580" cy="68580"/>
          </a:xfrm>
          <a:prstGeom prst="ellipse">
            <a:avLst/>
          </a:prstGeom>
          <a:solidFill>
            <a:srgbClr val="B4EA54"/>
          </a:solidFill>
          <a:ln>
            <a:noFill/>
          </a:ln>
        </p:spPr>
      </p:sp>
      <p:sp>
        <p:nvSpPr>
          <p:cNvPr id="31" name="sample training row"/>
          <p:cNvSpPr/>
          <p:nvPr/>
        </p:nvSpPr>
        <p:spPr>
          <a:xfrm>
            <a:off x="2244090" y="2701290"/>
            <a:ext cx="68580" cy="68580"/>
          </a:xfrm>
          <a:prstGeom prst="ellipse">
            <a:avLst/>
          </a:prstGeom>
          <a:solidFill>
            <a:srgbClr val="B4EA54"/>
          </a:solidFill>
          <a:ln>
            <a:noFill/>
          </a:ln>
        </p:spPr>
      </p:sp>
      <p:sp>
        <p:nvSpPr>
          <p:cNvPr id="32" name="sample training row"/>
          <p:cNvSpPr/>
          <p:nvPr/>
        </p:nvSpPr>
        <p:spPr>
          <a:xfrm>
            <a:off x="1230630" y="2556510"/>
            <a:ext cx="68580" cy="68580"/>
          </a:xfrm>
          <a:prstGeom prst="ellipse">
            <a:avLst/>
          </a:prstGeom>
          <a:solidFill>
            <a:srgbClr val="2BBC2B"/>
          </a:solidFill>
          <a:ln>
            <a:noFill/>
          </a:ln>
        </p:spPr>
      </p:sp>
      <p:sp>
        <p:nvSpPr>
          <p:cNvPr id="33" name="sample training row"/>
          <p:cNvSpPr/>
          <p:nvPr/>
        </p:nvSpPr>
        <p:spPr>
          <a:xfrm>
            <a:off x="1375410" y="2556510"/>
            <a:ext cx="68580" cy="68580"/>
          </a:xfrm>
          <a:prstGeom prst="ellipse">
            <a:avLst/>
          </a:prstGeom>
          <a:solidFill>
            <a:srgbClr val="2BBC2B"/>
          </a:solidFill>
          <a:ln>
            <a:noFill/>
          </a:ln>
        </p:spPr>
      </p:sp>
      <p:sp>
        <p:nvSpPr>
          <p:cNvPr id="34" name="sample training row"/>
          <p:cNvSpPr/>
          <p:nvPr/>
        </p:nvSpPr>
        <p:spPr>
          <a:xfrm>
            <a:off x="1520190" y="2556510"/>
            <a:ext cx="68580" cy="68580"/>
          </a:xfrm>
          <a:prstGeom prst="ellipse">
            <a:avLst/>
          </a:prstGeom>
          <a:solidFill>
            <a:srgbClr val="2BBC2B"/>
          </a:solidFill>
          <a:ln>
            <a:noFill/>
          </a:ln>
        </p:spPr>
      </p:sp>
      <p:sp>
        <p:nvSpPr>
          <p:cNvPr id="35" name="sample training row"/>
          <p:cNvSpPr/>
          <p:nvPr/>
        </p:nvSpPr>
        <p:spPr>
          <a:xfrm>
            <a:off x="1664970" y="2556510"/>
            <a:ext cx="68580" cy="68580"/>
          </a:xfrm>
          <a:prstGeom prst="ellipse">
            <a:avLst/>
          </a:prstGeom>
          <a:solidFill>
            <a:srgbClr val="2BBC2B"/>
          </a:solidFill>
          <a:ln>
            <a:noFill/>
          </a:ln>
        </p:spPr>
      </p:sp>
      <p:sp>
        <p:nvSpPr>
          <p:cNvPr id="36" name="sample training row"/>
          <p:cNvSpPr/>
          <p:nvPr/>
        </p:nvSpPr>
        <p:spPr>
          <a:xfrm>
            <a:off x="1809750" y="2556510"/>
            <a:ext cx="68580" cy="68580"/>
          </a:xfrm>
          <a:prstGeom prst="ellipse">
            <a:avLst/>
          </a:prstGeom>
          <a:solidFill>
            <a:srgbClr val="B4EA54"/>
          </a:solidFill>
          <a:ln>
            <a:noFill/>
          </a:ln>
        </p:spPr>
      </p:sp>
      <p:sp>
        <p:nvSpPr>
          <p:cNvPr id="37" name="sample training row"/>
          <p:cNvSpPr/>
          <p:nvPr/>
        </p:nvSpPr>
        <p:spPr>
          <a:xfrm>
            <a:off x="1954530" y="2556510"/>
            <a:ext cx="68580" cy="68580"/>
          </a:xfrm>
          <a:prstGeom prst="ellipse">
            <a:avLst/>
          </a:prstGeom>
          <a:solidFill>
            <a:srgbClr val="B4EA54"/>
          </a:solidFill>
          <a:ln>
            <a:noFill/>
          </a:ln>
        </p:spPr>
      </p:sp>
      <p:sp>
        <p:nvSpPr>
          <p:cNvPr id="38" name="sample training row"/>
          <p:cNvSpPr/>
          <p:nvPr/>
        </p:nvSpPr>
        <p:spPr>
          <a:xfrm>
            <a:off x="2099310" y="2556510"/>
            <a:ext cx="68580" cy="68580"/>
          </a:xfrm>
          <a:prstGeom prst="ellipse">
            <a:avLst/>
          </a:prstGeom>
          <a:solidFill>
            <a:srgbClr val="B4EA54"/>
          </a:solidFill>
          <a:ln>
            <a:noFill/>
          </a:ln>
        </p:spPr>
      </p:sp>
      <p:sp>
        <p:nvSpPr>
          <p:cNvPr id="39" name="sample training row"/>
          <p:cNvSpPr/>
          <p:nvPr/>
        </p:nvSpPr>
        <p:spPr>
          <a:xfrm>
            <a:off x="2244090" y="2556510"/>
            <a:ext cx="68580" cy="68580"/>
          </a:xfrm>
          <a:prstGeom prst="ellipse">
            <a:avLst/>
          </a:prstGeom>
          <a:solidFill>
            <a:srgbClr val="B4EA54"/>
          </a:solidFill>
          <a:ln>
            <a:noFill/>
          </a:ln>
        </p:spPr>
      </p:sp>
      <p:sp>
        <p:nvSpPr>
          <p:cNvPr id="40" name="sample training row"/>
          <p:cNvSpPr/>
          <p:nvPr/>
        </p:nvSpPr>
        <p:spPr>
          <a:xfrm>
            <a:off x="1230630" y="2411730"/>
            <a:ext cx="68580" cy="68580"/>
          </a:xfrm>
          <a:prstGeom prst="ellipse">
            <a:avLst/>
          </a:prstGeom>
          <a:solidFill>
            <a:srgbClr val="2BBC2B"/>
          </a:solidFill>
          <a:ln>
            <a:noFill/>
          </a:ln>
        </p:spPr>
      </p:sp>
      <p:sp>
        <p:nvSpPr>
          <p:cNvPr id="41" name="sample training row"/>
          <p:cNvSpPr/>
          <p:nvPr/>
        </p:nvSpPr>
        <p:spPr>
          <a:xfrm>
            <a:off x="1375410" y="2411730"/>
            <a:ext cx="68580" cy="68580"/>
          </a:xfrm>
          <a:prstGeom prst="ellipse">
            <a:avLst/>
          </a:prstGeom>
          <a:solidFill>
            <a:srgbClr val="2BBC2B"/>
          </a:solidFill>
          <a:ln>
            <a:noFill/>
          </a:ln>
        </p:spPr>
      </p:sp>
      <p:sp>
        <p:nvSpPr>
          <p:cNvPr id="42" name="sample training row"/>
          <p:cNvSpPr/>
          <p:nvPr/>
        </p:nvSpPr>
        <p:spPr>
          <a:xfrm>
            <a:off x="1520190" y="2411730"/>
            <a:ext cx="68580" cy="68580"/>
          </a:xfrm>
          <a:prstGeom prst="ellipse">
            <a:avLst/>
          </a:prstGeom>
          <a:solidFill>
            <a:srgbClr val="2BBC2B"/>
          </a:solidFill>
          <a:ln>
            <a:noFill/>
          </a:ln>
        </p:spPr>
      </p:sp>
      <p:sp>
        <p:nvSpPr>
          <p:cNvPr id="43" name="sample training row"/>
          <p:cNvSpPr/>
          <p:nvPr/>
        </p:nvSpPr>
        <p:spPr>
          <a:xfrm>
            <a:off x="1664970" y="2411730"/>
            <a:ext cx="68580" cy="68580"/>
          </a:xfrm>
          <a:prstGeom prst="ellipse">
            <a:avLst/>
          </a:prstGeom>
          <a:solidFill>
            <a:srgbClr val="2BBC2B"/>
          </a:solidFill>
          <a:ln>
            <a:noFill/>
          </a:ln>
        </p:spPr>
      </p:sp>
      <p:sp>
        <p:nvSpPr>
          <p:cNvPr id="44" name="sample training row"/>
          <p:cNvSpPr/>
          <p:nvPr/>
        </p:nvSpPr>
        <p:spPr>
          <a:xfrm>
            <a:off x="1809750" y="2411730"/>
            <a:ext cx="68580" cy="68580"/>
          </a:xfrm>
          <a:prstGeom prst="ellipse">
            <a:avLst/>
          </a:prstGeom>
          <a:solidFill>
            <a:srgbClr val="B4EA54"/>
          </a:solidFill>
          <a:ln>
            <a:noFill/>
          </a:ln>
        </p:spPr>
      </p:sp>
      <p:sp>
        <p:nvSpPr>
          <p:cNvPr id="45" name="sample training row"/>
          <p:cNvSpPr/>
          <p:nvPr/>
        </p:nvSpPr>
        <p:spPr>
          <a:xfrm>
            <a:off x="1954530" y="2411730"/>
            <a:ext cx="68580" cy="68580"/>
          </a:xfrm>
          <a:prstGeom prst="ellipse">
            <a:avLst/>
          </a:prstGeom>
          <a:solidFill>
            <a:srgbClr val="B4EA54"/>
          </a:solidFill>
          <a:ln>
            <a:noFill/>
          </a:ln>
        </p:spPr>
      </p:sp>
      <p:sp>
        <p:nvSpPr>
          <p:cNvPr id="46" name="sample training row"/>
          <p:cNvSpPr/>
          <p:nvPr/>
        </p:nvSpPr>
        <p:spPr>
          <a:xfrm>
            <a:off x="2099310" y="2411730"/>
            <a:ext cx="68580" cy="68580"/>
          </a:xfrm>
          <a:prstGeom prst="ellipse">
            <a:avLst/>
          </a:prstGeom>
          <a:solidFill>
            <a:srgbClr val="B4EA54"/>
          </a:solidFill>
          <a:ln>
            <a:noFill/>
          </a:ln>
        </p:spPr>
      </p:sp>
      <p:sp>
        <p:nvSpPr>
          <p:cNvPr id="47" name="sample training row"/>
          <p:cNvSpPr/>
          <p:nvPr/>
        </p:nvSpPr>
        <p:spPr>
          <a:xfrm>
            <a:off x="2244090" y="2411730"/>
            <a:ext cx="68580" cy="68580"/>
          </a:xfrm>
          <a:prstGeom prst="ellipse">
            <a:avLst/>
          </a:prstGeom>
          <a:solidFill>
            <a:srgbClr val="B4EA54"/>
          </a:solidFill>
          <a:ln>
            <a:noFill/>
          </a:ln>
        </p:spPr>
      </p:sp>
      <p:sp>
        <p:nvSpPr>
          <p:cNvPr id="48" name="sample rows note"/>
          <p:cNvSpPr txBox="1"/>
          <p:nvPr/>
        </p:nvSpPr>
        <p:spPr>
          <a:xfrm>
            <a:off x="937260" y="2438400"/>
            <a:ext cx="149352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920" b="1" dirty="0">
                <a:solidFill>
                  <a:srgbClr val="003900"/>
                </a:solidFill>
                <a:latin typeface="Arial"/>
                <a:cs typeface="Arial"/>
              </a:rPr>
              <a:t>dots shown = sample rows</a:t>
            </a:r>
          </a:p>
        </p:txBody>
      </p:sp>
      <p:cxnSp>
        <p:nvCxnSpPr>
          <p:cNvPr id="49" name="training to split"/>
          <p:cNvCxnSpPr/>
          <p:nvPr/>
        </p:nvCxnSpPr>
        <p:spPr>
          <a:xfrm>
            <a:off x="2613660" y="3474720"/>
            <a:ext cx="624840" cy="1"/>
          </a:xfrm>
          <a:prstGeom prst="line">
            <a:avLst/>
          </a:prstGeom>
          <a:ln w="33020">
            <a:solidFill>
              <a:srgbClr val="B4EA54"/>
            </a:solidFill>
            <a:headEnd type="triangle"/>
          </a:ln>
        </p:spPr>
      </p:cxnSp>
      <p:sp>
        <p:nvSpPr>
          <p:cNvPr id="50" name="split actual treatment"/>
          <p:cNvSpPr/>
          <p:nvPr/>
        </p:nvSpPr>
        <p:spPr>
          <a:xfrm>
            <a:off x="3238500" y="3086100"/>
            <a:ext cx="1104900" cy="777240"/>
          </a:xfrm>
          <a:prstGeom prst="roundRect">
            <a:avLst/>
          </a:prstGeom>
          <a:solidFill>
            <a:srgbClr val="006A08"/>
          </a:solidFill>
          <a:ln w="20320">
            <a:solidFill>
              <a:srgbClr val="B4EA54"/>
            </a:solidFill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cs typeface="Arial"/>
              </a:rPr>
              <a:t>Split by</a:t>
            </a:r>
          </a:p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cs typeface="Arial"/>
              </a:rPr>
              <a:t>actual T</a:t>
            </a:r>
          </a:p>
        </p:txBody>
      </p:sp>
      <p:sp>
        <p:nvSpPr>
          <p:cNvPr id="51" name="treated label"/>
          <p:cNvSpPr/>
          <p:nvPr/>
        </p:nvSpPr>
        <p:spPr>
          <a:xfrm>
            <a:off x="4541520" y="3825240"/>
            <a:ext cx="624840" cy="259080"/>
          </a:xfrm>
          <a:prstGeom prst="roundRect">
            <a:avLst/>
          </a:prstGeom>
          <a:solidFill>
            <a:srgbClr val="2BBC2B"/>
          </a:solidFill>
          <a:ln w="20320">
            <a:solidFill>
              <a:srgbClr val="2BBC2B"/>
            </a:solidFill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940" b="1" dirty="0">
                <a:solidFill>
                  <a:srgbClr val="FFFFFF"/>
                </a:solidFill>
                <a:latin typeface="Arial"/>
                <a:cs typeface="Arial"/>
              </a:rPr>
              <a:t>T = 1</a:t>
            </a:r>
          </a:p>
        </p:txBody>
      </p:sp>
      <p:sp>
        <p:nvSpPr>
          <p:cNvPr id="52" name="untreated label"/>
          <p:cNvSpPr/>
          <p:nvPr/>
        </p:nvSpPr>
        <p:spPr>
          <a:xfrm>
            <a:off x="4541520" y="2849880"/>
            <a:ext cx="624840" cy="259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BBC2B"/>
            </a:solidFill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940" b="1" dirty="0">
                <a:solidFill>
                  <a:srgbClr val="003900"/>
                </a:solidFill>
                <a:latin typeface="Arial"/>
                <a:cs typeface="Arial"/>
              </a:rPr>
              <a:t>T = 0</a:t>
            </a:r>
          </a:p>
        </p:txBody>
      </p:sp>
      <p:cxnSp>
        <p:nvCxnSpPr>
          <p:cNvPr id="53" name="split to treated label"/>
          <p:cNvCxnSpPr/>
          <p:nvPr/>
        </p:nvCxnSpPr>
        <p:spPr>
          <a:xfrm>
            <a:off x="4343400" y="3642360"/>
            <a:ext cx="289560" cy="198120"/>
          </a:xfrm>
          <a:prstGeom prst="line">
            <a:avLst/>
          </a:prstGeom>
          <a:ln w="33020">
            <a:solidFill>
              <a:srgbClr val="B4EA54"/>
            </a:solidFill>
            <a:headEnd type="triangle"/>
          </a:ln>
        </p:spPr>
      </p:cxnSp>
      <p:cxnSp>
        <p:nvCxnSpPr>
          <p:cNvPr id="54" name="split to untreated label"/>
          <p:cNvCxnSpPr/>
          <p:nvPr/>
        </p:nvCxnSpPr>
        <p:spPr>
          <a:xfrm flipV="1">
            <a:off x="4343400" y="3017520"/>
            <a:ext cx="289560" cy="289560"/>
          </a:xfrm>
          <a:prstGeom prst="line">
            <a:avLst/>
          </a:prstGeom>
          <a:ln w="33020">
            <a:solidFill>
              <a:srgbClr val="B4EA54"/>
            </a:solidFill>
            <a:headEnd type="triangle"/>
          </a:ln>
        </p:spPr>
      </p:cxnSp>
      <p:sp>
        <p:nvSpPr>
          <p:cNvPr id="55" name="model a card"/>
          <p:cNvSpPr/>
          <p:nvPr/>
        </p:nvSpPr>
        <p:spPr>
          <a:xfrm>
            <a:off x="5166360" y="3627120"/>
            <a:ext cx="2026920" cy="807720"/>
          </a:xfrm>
          <a:prstGeom prst="roundRect">
            <a:avLst/>
          </a:prstGeom>
          <a:solidFill>
            <a:srgbClr val="D8FFC5"/>
          </a:solidFill>
          <a:ln w="25400">
            <a:solidFill>
              <a:srgbClr val="2BBC2B"/>
            </a:solidFill>
          </a:ln>
        </p:spPr>
      </p:sp>
      <p:sp>
        <p:nvSpPr>
          <p:cNvPr id="56" name="model a title"/>
          <p:cNvSpPr txBox="1"/>
          <p:nvPr/>
        </p:nvSpPr>
        <p:spPr>
          <a:xfrm>
            <a:off x="5288280" y="4053840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1650" b="1" dirty="0">
                <a:solidFill>
                  <a:srgbClr val="003900"/>
                </a:solidFill>
                <a:latin typeface="Arial"/>
                <a:cs typeface="Arial"/>
              </a:rPr>
              <a:t>Model A: Treated</a:t>
            </a:r>
          </a:p>
        </p:txBody>
      </p:sp>
      <p:sp>
        <p:nvSpPr>
          <p:cNvPr id="57" name="model a body"/>
          <p:cNvSpPr txBox="1"/>
          <p:nvPr/>
        </p:nvSpPr>
        <p:spPr>
          <a:xfrm>
            <a:off x="5349240" y="3726180"/>
            <a:ext cx="164592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1080" dirty="0">
                <a:solidFill>
                  <a:srgbClr val="003900"/>
                </a:solidFill>
                <a:latin typeface="Arial"/>
                <a:cs typeface="Arial"/>
              </a:rPr>
              <a:t>Trains only on treated rows</a:t>
            </a:r>
          </a:p>
          <a:p>
            <a:pPr algn="ctr"/>
            <a:r>
              <a:rPr lang="en-US" sz="1080" dirty="0">
                <a:solidFill>
                  <a:srgbClr val="003900"/>
                </a:solidFill>
                <a:latin typeface="Arial"/>
                <a:cs typeface="Arial"/>
              </a:rPr>
              <a:t>from the 700-row dataset</a:t>
            </a:r>
          </a:p>
        </p:txBody>
      </p:sp>
      <p:sp>
        <p:nvSpPr>
          <p:cNvPr id="58" name="model b card"/>
          <p:cNvSpPr/>
          <p:nvPr/>
        </p:nvSpPr>
        <p:spPr>
          <a:xfrm>
            <a:off x="5166360" y="2636520"/>
            <a:ext cx="2026920" cy="807720"/>
          </a:xfrm>
          <a:prstGeom prst="roundRect">
            <a:avLst/>
          </a:prstGeom>
          <a:solidFill>
            <a:srgbClr val="E9FFE1"/>
          </a:solidFill>
          <a:ln w="25400">
            <a:solidFill>
              <a:srgbClr val="2BBC2B"/>
            </a:solidFill>
          </a:ln>
        </p:spPr>
      </p:sp>
      <p:sp>
        <p:nvSpPr>
          <p:cNvPr id="59" name="model b title"/>
          <p:cNvSpPr txBox="1"/>
          <p:nvPr/>
        </p:nvSpPr>
        <p:spPr>
          <a:xfrm>
            <a:off x="5273040" y="3063240"/>
            <a:ext cx="18135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1620" b="1" dirty="0">
                <a:solidFill>
                  <a:srgbClr val="003900"/>
                </a:solidFill>
                <a:latin typeface="Arial"/>
                <a:cs typeface="Arial"/>
              </a:rPr>
              <a:t>Model B: Untreated</a:t>
            </a:r>
          </a:p>
        </p:txBody>
      </p:sp>
      <p:sp>
        <p:nvSpPr>
          <p:cNvPr id="60" name="model b body"/>
          <p:cNvSpPr txBox="1"/>
          <p:nvPr/>
        </p:nvSpPr>
        <p:spPr>
          <a:xfrm>
            <a:off x="5349240" y="2735580"/>
            <a:ext cx="164592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1080" dirty="0">
                <a:solidFill>
                  <a:srgbClr val="003900"/>
                </a:solidFill>
                <a:latin typeface="Arial"/>
                <a:cs typeface="Arial"/>
              </a:rPr>
              <a:t>Trains only on untreated rows</a:t>
            </a:r>
          </a:p>
          <a:p>
            <a:pPr algn="ctr"/>
            <a:r>
              <a:rPr lang="en-US" sz="1080" dirty="0">
                <a:solidFill>
                  <a:srgbClr val="003900"/>
                </a:solidFill>
                <a:latin typeface="Arial"/>
                <a:cs typeface="Arial"/>
              </a:rPr>
              <a:t>from the 700-row dataset</a:t>
            </a:r>
          </a:p>
        </p:txBody>
      </p:sp>
      <p:cxnSp>
        <p:nvCxnSpPr>
          <p:cNvPr id="61" name="treated label to model a"/>
          <p:cNvCxnSpPr/>
          <p:nvPr/>
        </p:nvCxnSpPr>
        <p:spPr>
          <a:xfrm flipH="1">
            <a:off x="4632960" y="3954780"/>
            <a:ext cx="533400" cy="1"/>
          </a:xfrm>
          <a:prstGeom prst="line">
            <a:avLst/>
          </a:prstGeom>
          <a:ln w="33020">
            <a:solidFill>
              <a:srgbClr val="B4EA54"/>
            </a:solidFill>
            <a:headEnd type="triangle"/>
          </a:ln>
        </p:spPr>
      </p:cxnSp>
      <p:cxnSp>
        <p:nvCxnSpPr>
          <p:cNvPr id="62" name="untreated label to model b"/>
          <p:cNvCxnSpPr/>
          <p:nvPr/>
        </p:nvCxnSpPr>
        <p:spPr>
          <a:xfrm flipH="1">
            <a:off x="4632960" y="2979420"/>
            <a:ext cx="533400" cy="1"/>
          </a:xfrm>
          <a:prstGeom prst="line">
            <a:avLst/>
          </a:prstGeom>
          <a:ln w="33020">
            <a:solidFill>
              <a:srgbClr val="B4EA54"/>
            </a:solidFill>
            <a:headEnd type="triangle"/>
          </a:ln>
        </p:spPr>
      </p:cxnSp>
      <p:sp>
        <p:nvSpPr>
          <p:cNvPr id="63" name="same member card"/>
          <p:cNvSpPr/>
          <p:nvPr/>
        </p:nvSpPr>
        <p:spPr>
          <a:xfrm>
            <a:off x="7787640" y="3063240"/>
            <a:ext cx="1645920" cy="1127760"/>
          </a:xfrm>
          <a:prstGeom prst="roundRect">
            <a:avLst/>
          </a:prstGeom>
          <a:solidFill>
            <a:srgbClr val="006A08"/>
          </a:solidFill>
          <a:ln w="25400">
            <a:solidFill>
              <a:srgbClr val="B4EA54"/>
            </a:solidFill>
          </a:ln>
        </p:spPr>
      </p:sp>
      <p:sp>
        <p:nvSpPr>
          <p:cNvPr id="64" name="same member title"/>
          <p:cNvSpPr txBox="1"/>
          <p:nvPr/>
        </p:nvSpPr>
        <p:spPr>
          <a:xfrm>
            <a:off x="7894320" y="3771900"/>
            <a:ext cx="14325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1520" b="1" dirty="0">
                <a:solidFill>
                  <a:srgbClr val="FFFFFF"/>
                </a:solidFill>
                <a:latin typeface="Arial"/>
                <a:cs typeface="Arial"/>
              </a:rPr>
              <a:t>Same target member</a:t>
            </a:r>
          </a:p>
        </p:txBody>
      </p:sp>
      <p:sp>
        <p:nvSpPr>
          <p:cNvPr id="65" name="same member body"/>
          <p:cNvSpPr txBox="1"/>
          <p:nvPr/>
        </p:nvSpPr>
        <p:spPr>
          <a:xfrm>
            <a:off x="7985760" y="3429000"/>
            <a:ext cx="12496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1080" dirty="0">
                <a:solidFill>
                  <a:srgbClr val="E9FFE1"/>
                </a:solidFill>
                <a:latin typeface="Arial"/>
                <a:cs typeface="Arial"/>
              </a:rPr>
              <a:t>Send the same X through</a:t>
            </a:r>
          </a:p>
          <a:p>
            <a:pPr algn="ctr"/>
            <a:r>
              <a:rPr lang="en-US" sz="1080" dirty="0">
                <a:solidFill>
                  <a:srgbClr val="E9FFE1"/>
                </a:solidFill>
                <a:latin typeface="Arial"/>
                <a:cs typeface="Arial"/>
              </a:rPr>
              <a:t>both trained models</a:t>
            </a:r>
          </a:p>
        </p:txBody>
      </p:sp>
      <p:cxnSp>
        <p:nvCxnSpPr>
          <p:cNvPr id="66" name="model a to same member"/>
          <p:cNvCxnSpPr/>
          <p:nvPr/>
        </p:nvCxnSpPr>
        <p:spPr>
          <a:xfrm flipV="1">
            <a:off x="7193280" y="3825240"/>
            <a:ext cx="594360" cy="137160"/>
          </a:xfrm>
          <a:prstGeom prst="line">
            <a:avLst/>
          </a:prstGeom>
          <a:ln w="33020">
            <a:solidFill>
              <a:srgbClr val="B4EA54"/>
            </a:solidFill>
            <a:headEnd type="triangle"/>
          </a:ln>
        </p:spPr>
      </p:cxnSp>
      <p:cxnSp>
        <p:nvCxnSpPr>
          <p:cNvPr id="67" name="model b to same member"/>
          <p:cNvCxnSpPr/>
          <p:nvPr/>
        </p:nvCxnSpPr>
        <p:spPr>
          <a:xfrm>
            <a:off x="7193280" y="3017520"/>
            <a:ext cx="594360" cy="381000"/>
          </a:xfrm>
          <a:prstGeom prst="line">
            <a:avLst/>
          </a:prstGeom>
          <a:ln w="33020">
            <a:solidFill>
              <a:srgbClr val="B4EA54"/>
            </a:solidFill>
            <a:headEnd type="triangle"/>
          </a:ln>
        </p:spPr>
      </p:cxnSp>
      <p:sp>
        <p:nvSpPr>
          <p:cNvPr id="68" name="prediction treated card"/>
          <p:cNvSpPr/>
          <p:nvPr/>
        </p:nvSpPr>
        <p:spPr>
          <a:xfrm>
            <a:off x="9768840" y="3779520"/>
            <a:ext cx="1615440" cy="716280"/>
          </a:xfrm>
          <a:prstGeom prst="roundRect">
            <a:avLst/>
          </a:prstGeom>
          <a:solidFill>
            <a:srgbClr val="2BBC2B"/>
          </a:solidFill>
          <a:ln w="25400">
            <a:solidFill>
              <a:srgbClr val="B4EA54"/>
            </a:solidFill>
          </a:ln>
        </p:spPr>
      </p:sp>
      <p:sp>
        <p:nvSpPr>
          <p:cNvPr id="69" name="prediction treated formula"/>
          <p:cNvSpPr txBox="1"/>
          <p:nvPr/>
        </p:nvSpPr>
        <p:spPr>
          <a:xfrm>
            <a:off x="9875520" y="4023360"/>
            <a:ext cx="48768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1750" b="1" dirty="0">
                <a:solidFill>
                  <a:srgbClr val="FFFFFF"/>
                </a:solidFill>
                <a:latin typeface="Arial"/>
                <a:cs typeface="Arial"/>
              </a:rPr>
              <a:t>Yhat(1)</a:t>
            </a:r>
          </a:p>
        </p:txBody>
      </p:sp>
      <p:sp>
        <p:nvSpPr>
          <p:cNvPr id="70" name="prediction treated body"/>
          <p:cNvSpPr txBox="1"/>
          <p:nvPr/>
        </p:nvSpPr>
        <p:spPr>
          <a:xfrm>
            <a:off x="10424160" y="39547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1150" b="1" dirty="0">
                <a:solidFill>
                  <a:srgbClr val="FFFFFF"/>
                </a:solidFill>
                <a:latin typeface="Arial"/>
                <a:cs typeface="Arial"/>
              </a:rPr>
              <a:t>ED risk</a:t>
            </a:r>
          </a:p>
          <a:p>
            <a:pPr algn="ctr"/>
            <a:r>
              <a:rPr lang="en-US" sz="1150" b="1" dirty="0">
                <a:solidFill>
                  <a:srgbClr val="FFFFFF"/>
                </a:solidFill>
                <a:latin typeface="Arial"/>
                <a:cs typeface="Arial"/>
              </a:rPr>
              <a:t>with program</a:t>
            </a:r>
          </a:p>
        </p:txBody>
      </p:sp>
      <p:sp>
        <p:nvSpPr>
          <p:cNvPr id="71" name="prediction untreated card"/>
          <p:cNvSpPr/>
          <p:nvPr/>
        </p:nvSpPr>
        <p:spPr>
          <a:xfrm>
            <a:off x="9768840" y="2606040"/>
            <a:ext cx="1615440" cy="716280"/>
          </a:xfrm>
          <a:prstGeom prst="roundRect">
            <a:avLst/>
          </a:prstGeom>
          <a:solidFill>
            <a:srgbClr val="E9FFE1"/>
          </a:solidFill>
          <a:ln w="25400">
            <a:solidFill>
              <a:srgbClr val="B4EA54"/>
            </a:solidFill>
          </a:ln>
        </p:spPr>
      </p:sp>
      <p:sp>
        <p:nvSpPr>
          <p:cNvPr id="72" name="prediction untreated formula"/>
          <p:cNvSpPr txBox="1"/>
          <p:nvPr/>
        </p:nvSpPr>
        <p:spPr>
          <a:xfrm>
            <a:off x="9875520" y="2849880"/>
            <a:ext cx="48768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1750" b="1" dirty="0">
                <a:solidFill>
                  <a:srgbClr val="003900"/>
                </a:solidFill>
                <a:latin typeface="Arial"/>
                <a:cs typeface="Arial"/>
              </a:rPr>
              <a:t>Yhat(0)</a:t>
            </a:r>
          </a:p>
        </p:txBody>
      </p:sp>
      <p:sp>
        <p:nvSpPr>
          <p:cNvPr id="73" name="prediction untreated body"/>
          <p:cNvSpPr txBox="1"/>
          <p:nvPr/>
        </p:nvSpPr>
        <p:spPr>
          <a:xfrm>
            <a:off x="10378440" y="2781300"/>
            <a:ext cx="838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1150" b="1" dirty="0">
                <a:solidFill>
                  <a:srgbClr val="003900"/>
                </a:solidFill>
                <a:latin typeface="Arial"/>
                <a:cs typeface="Arial"/>
              </a:rPr>
              <a:t>ED risk</a:t>
            </a:r>
          </a:p>
          <a:p>
            <a:pPr algn="ctr"/>
            <a:r>
              <a:rPr lang="en-US" sz="1150" b="1" dirty="0">
                <a:solidFill>
                  <a:srgbClr val="003900"/>
                </a:solidFill>
                <a:latin typeface="Arial"/>
                <a:cs typeface="Arial"/>
              </a:rPr>
              <a:t>without program</a:t>
            </a:r>
          </a:p>
        </p:txBody>
      </p:sp>
      <p:cxnSp>
        <p:nvCxnSpPr>
          <p:cNvPr id="74" name="same member to treated prediction"/>
          <p:cNvCxnSpPr/>
          <p:nvPr/>
        </p:nvCxnSpPr>
        <p:spPr>
          <a:xfrm>
            <a:off x="9433560" y="3825240"/>
            <a:ext cx="335280" cy="312420"/>
          </a:xfrm>
          <a:prstGeom prst="line">
            <a:avLst/>
          </a:prstGeom>
          <a:ln w="33020">
            <a:solidFill>
              <a:srgbClr val="B4EA54"/>
            </a:solidFill>
            <a:headEnd type="triangle"/>
          </a:ln>
        </p:spPr>
      </p:cxnSp>
      <p:cxnSp>
        <p:nvCxnSpPr>
          <p:cNvPr id="75" name="same member to untreated prediction"/>
          <p:cNvCxnSpPr/>
          <p:nvPr/>
        </p:nvCxnSpPr>
        <p:spPr>
          <a:xfrm flipV="1">
            <a:off x="9433560" y="2971800"/>
            <a:ext cx="335280" cy="426720"/>
          </a:xfrm>
          <a:prstGeom prst="line">
            <a:avLst/>
          </a:prstGeom>
          <a:ln w="33020">
            <a:solidFill>
              <a:srgbClr val="B4EA54"/>
            </a:solidFill>
            <a:headEnd type="triangle"/>
          </a:ln>
        </p:spPr>
      </p:cxnSp>
      <p:sp>
        <p:nvSpPr>
          <p:cNvPr id="76" name="benefit card"/>
          <p:cNvSpPr/>
          <p:nvPr/>
        </p:nvSpPr>
        <p:spPr>
          <a:xfrm>
            <a:off x="9768840" y="1234440"/>
            <a:ext cx="1615440" cy="746760"/>
          </a:xfrm>
          <a:prstGeom prst="roundRect">
            <a:avLst/>
          </a:prstGeom>
          <a:solidFill>
            <a:srgbClr val="B4EA54"/>
          </a:solidFill>
          <a:ln w="29210">
            <a:solidFill>
              <a:srgbClr val="2BBC2B"/>
            </a:solidFill>
          </a:ln>
        </p:spPr>
      </p:sp>
      <p:sp>
        <p:nvSpPr>
          <p:cNvPr id="77" name="benefit title"/>
          <p:cNvSpPr txBox="1"/>
          <p:nvPr/>
        </p:nvSpPr>
        <p:spPr>
          <a:xfrm>
            <a:off x="9936480" y="1645920"/>
            <a:ext cx="128016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1450" b="1" dirty="0">
                <a:solidFill>
                  <a:srgbClr val="016101"/>
                </a:solidFill>
                <a:latin typeface="Arial"/>
                <a:cs typeface="Arial"/>
              </a:rPr>
              <a:t>Estimated Benefit</a:t>
            </a:r>
          </a:p>
        </p:txBody>
      </p:sp>
      <p:sp>
        <p:nvSpPr>
          <p:cNvPr id="78" name="benefit formula"/>
          <p:cNvSpPr txBox="1"/>
          <p:nvPr/>
        </p:nvSpPr>
        <p:spPr>
          <a:xfrm>
            <a:off x="9944100" y="1371600"/>
            <a:ext cx="126492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1480" b="1" dirty="0">
                <a:solidFill>
                  <a:srgbClr val="016101"/>
                </a:solidFill>
                <a:latin typeface="Arial"/>
                <a:cs typeface="Arial"/>
              </a:rPr>
              <a:t>Yhat(0) - Yhat(1)</a:t>
            </a:r>
          </a:p>
        </p:txBody>
      </p:sp>
      <p:cxnSp>
        <p:nvCxnSpPr>
          <p:cNvPr id="79" name="treated prediction to benefit"/>
          <p:cNvCxnSpPr/>
          <p:nvPr/>
        </p:nvCxnSpPr>
        <p:spPr>
          <a:xfrm flipV="1">
            <a:off x="10576560" y="1981200"/>
            <a:ext cx="1" cy="1798320"/>
          </a:xfrm>
          <a:prstGeom prst="line">
            <a:avLst/>
          </a:prstGeom>
          <a:ln w="33020">
            <a:solidFill>
              <a:srgbClr val="B4EA54"/>
            </a:solidFill>
            <a:headEnd type="triangle"/>
          </a:ln>
        </p:spPr>
      </p:cxnSp>
      <p:cxnSp>
        <p:nvCxnSpPr>
          <p:cNvPr id="80" name="untreated prediction to benefit"/>
          <p:cNvCxnSpPr/>
          <p:nvPr/>
        </p:nvCxnSpPr>
        <p:spPr>
          <a:xfrm flipV="1">
            <a:off x="10576560" y="1981200"/>
            <a:ext cx="1" cy="624840"/>
          </a:xfrm>
          <a:prstGeom prst="line">
            <a:avLst/>
          </a:prstGeom>
          <a:ln w="33020">
            <a:solidFill>
              <a:srgbClr val="B4EA54"/>
            </a:solidFill>
            <a:headEnd type="triangle"/>
          </a:ln>
        </p:spPr>
      </p:cxnSp>
      <p:sp>
        <p:nvSpPr>
          <p:cNvPr id="81" name="key idea box"/>
          <p:cNvSpPr/>
          <p:nvPr/>
        </p:nvSpPr>
        <p:spPr>
          <a:xfrm>
            <a:off x="670560" y="701040"/>
            <a:ext cx="8343900" cy="655320"/>
          </a:xfrm>
          <a:prstGeom prst="roundRect">
            <a:avLst/>
          </a:prstGeom>
          <a:solidFill>
            <a:srgbClr val="08720A"/>
          </a:solidFill>
          <a:ln w="12700">
            <a:solidFill>
              <a:srgbClr val="08720A"/>
            </a:solidFill>
          </a:ln>
        </p:spPr>
      </p:sp>
      <p:sp>
        <p:nvSpPr>
          <p:cNvPr id="82" name="key idea label"/>
          <p:cNvSpPr txBox="1"/>
          <p:nvPr/>
        </p:nvSpPr>
        <p:spPr>
          <a:xfrm>
            <a:off x="838200" y="92964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l"/>
            <a:r>
              <a:rPr lang="en-US" sz="1280" b="1" dirty="0">
                <a:solidFill>
                  <a:srgbClr val="FFFFFF"/>
                </a:solidFill>
                <a:latin typeface="Arial"/>
                <a:cs typeface="Arial"/>
              </a:rPr>
              <a:t>Key idea:</a:t>
            </a:r>
          </a:p>
        </p:txBody>
      </p:sp>
      <p:sp>
        <p:nvSpPr>
          <p:cNvPr id="83" name="key idea body"/>
          <p:cNvSpPr txBox="1"/>
          <p:nvPr/>
        </p:nvSpPr>
        <p:spPr>
          <a:xfrm>
            <a:off x="1386840" y="922020"/>
            <a:ext cx="7376160" cy="1981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l"/>
            <a:r>
              <a:rPr lang="en-US" sz="1170" dirty="0">
                <a:solidFill>
                  <a:srgbClr val="E9FFE1"/>
                </a:solidFill>
                <a:latin typeface="Arial"/>
                <a:cs typeface="Arial"/>
              </a:rPr>
              <a:t>For the same member, estimate ED risk under both possible treatment paths. The gap is the modeled program benefit.</a:t>
            </a:r>
          </a:p>
        </p:txBody>
      </p:sp>
      <p:sp>
        <p:nvSpPr>
          <p:cNvPr id="84" name="legend treated rows"/>
          <p:cNvSpPr/>
          <p:nvPr/>
        </p:nvSpPr>
        <p:spPr>
          <a:xfrm>
            <a:off x="704850" y="316230"/>
            <a:ext cx="83820" cy="83820"/>
          </a:xfrm>
          <a:prstGeom prst="ellipse">
            <a:avLst/>
          </a:prstGeom>
          <a:solidFill>
            <a:srgbClr val="2BBC2B"/>
          </a:solidFill>
          <a:ln>
            <a:noFill/>
          </a:ln>
        </p:spPr>
      </p:sp>
      <p:sp>
        <p:nvSpPr>
          <p:cNvPr id="85" name="legend treated label"/>
          <p:cNvSpPr txBox="1"/>
          <p:nvPr/>
        </p:nvSpPr>
        <p:spPr>
          <a:xfrm>
            <a:off x="853440" y="297180"/>
            <a:ext cx="70104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l"/>
            <a:r>
              <a:rPr lang="en-US" sz="950" dirty="0">
                <a:solidFill>
                  <a:srgbClr val="E9FFE1"/>
                </a:solidFill>
                <a:latin typeface="Arial"/>
                <a:cs typeface="Arial"/>
              </a:rPr>
              <a:t>Treated rows</a:t>
            </a:r>
          </a:p>
        </p:txBody>
      </p:sp>
      <p:sp>
        <p:nvSpPr>
          <p:cNvPr id="86" name="legend untreated rows"/>
          <p:cNvSpPr/>
          <p:nvPr/>
        </p:nvSpPr>
        <p:spPr>
          <a:xfrm>
            <a:off x="1619250" y="316230"/>
            <a:ext cx="83820" cy="83820"/>
          </a:xfrm>
          <a:prstGeom prst="ellipse">
            <a:avLst/>
          </a:prstGeom>
          <a:solidFill>
            <a:srgbClr val="B4EA54"/>
          </a:solidFill>
          <a:ln>
            <a:noFill/>
          </a:ln>
        </p:spPr>
      </p:sp>
      <p:sp>
        <p:nvSpPr>
          <p:cNvPr id="87" name="legend untreated label"/>
          <p:cNvSpPr txBox="1"/>
          <p:nvPr/>
        </p:nvSpPr>
        <p:spPr>
          <a:xfrm>
            <a:off x="1767840" y="297180"/>
            <a:ext cx="82296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l"/>
            <a:r>
              <a:rPr lang="en-US" sz="950" dirty="0">
                <a:solidFill>
                  <a:srgbClr val="E9FFE1"/>
                </a:solidFill>
                <a:latin typeface="Arial"/>
                <a:cs typeface="Arial"/>
              </a:rPr>
              <a:t>Untreated rows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entra">
  <a:themeElements>
    <a:clrScheme name="Acentra">
      <a:dk1>
        <a:srgbClr val="003900"/>
      </a:dk1>
      <a:lt1>
        <a:srgbClr val="FFFFFF"/>
      </a:lt1>
      <a:dk2>
        <a:srgbClr val="016101"/>
      </a:dk2>
      <a:lt2>
        <a:srgbClr val="E9FFE1"/>
      </a:lt2>
      <a:accent1>
        <a:srgbClr val="2BBC2B"/>
      </a:accent1>
      <a:accent2>
        <a:srgbClr val="B4EA54"/>
      </a:accent2>
      <a:accent3>
        <a:srgbClr val="D8FFC5"/>
      </a:accent3>
      <a:accent4>
        <a:srgbClr val="006A08"/>
      </a:accent4>
      <a:accent5>
        <a:srgbClr val="08720A"/>
      </a:accent5>
      <a:accent6>
        <a:srgbClr val="F7FFF3"/>
      </a:accent6>
      <a:hlink>
        <a:srgbClr val="2BBC2B"/>
      </a:hlink>
      <a:folHlink>
        <a:srgbClr val="B4EA54"/>
      </a:folHlink>
    </a:clrScheme>
    <a:fontScheme name="Arial">
      <a:majorFont>
        <a:latin typeface="Arial"/>
      </a:majorFont>
      <a:minorFont>
        <a:latin typeface="Arial"/>
      </a:minorFont>
    </a:fontScheme>
    <a:fmtScheme name="Acentr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</Slides>
  <Notes>0</Notes>
  <HiddenSlides>0</HiddenSlide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PRISM T-Learner Framework</dc:title>
  <dc:creator>Codex</dc:creator>
  <cp:lastModifiedBy>Codex</cp:lastModifiedBy>
  <dcterms:created xsi:type="dcterms:W3CDTF">2026-06-26T20:16:29Z</dcterms:created>
  <dcterms:modified xsi:type="dcterms:W3CDTF">2026-06-26T20:16:29Z</dcterms:modified>
</cp:coreProperties>
</file>