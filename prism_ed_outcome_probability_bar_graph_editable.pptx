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6101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1783080" y="381000"/>
            <a:ext cx="6248400" cy="44196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l"/>
            <a:r>
              <a:rPr lang="en-US" sz="3000" b="1" dirty="0">
                <a:solidFill>
                  <a:srgbClr val="FFFFFF"/>
                </a:solidFill>
                <a:latin typeface="Arial"/>
                <a:cs typeface="Arial"/>
              </a:rPr>
              <a:t>Estimated ED Outcome Probability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790700" y="792480"/>
            <a:ext cx="57150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l"/>
            <a:r>
              <a:rPr lang="en-US" sz="1700" dirty="0">
                <a:solidFill>
                  <a:srgbClr val="E9FFE1"/>
                </a:solidFill>
                <a:latin typeface="Arial"/>
                <a:cs typeface="Arial"/>
              </a:rPr>
              <a:t>Illustrative treatment comparison for the same target member</a:t>
            </a:r>
          </a:p>
        </p:txBody>
      </p:sp>
      <p:cxnSp>
        <p:nvCxnSpPr>
          <p:cNvPr id="5" name="grid 0"/>
          <p:cNvCxnSpPr/>
          <p:nvPr/>
        </p:nvCxnSpPr>
        <p:spPr>
          <a:xfrm>
            <a:off x="1943100" y="5471160"/>
            <a:ext cx="8915400" cy="1"/>
          </a:xfrm>
          <a:prstGeom prst="line">
            <a:avLst/>
          </a:prstGeom>
          <a:ln w="11430">
            <a:solidFill>
              <a:srgbClr val="B2E0A6">
                <a:alpha val="35000"/>
              </a:srgbClr>
            </a:solidFill>
          </a:ln>
        </p:spPr>
      </p:cxnSp>
      <p:cxnSp>
        <p:nvCxnSpPr>
          <p:cNvPr id="6" name="tick 0"/>
          <p:cNvCxnSpPr/>
          <p:nvPr/>
        </p:nvCxnSpPr>
        <p:spPr>
          <a:xfrm>
            <a:off x="1866900" y="5471160"/>
            <a:ext cx="76200" cy="1"/>
          </a:xfrm>
          <a:prstGeom prst="line">
            <a:avLst/>
          </a:prstGeom>
          <a:ln w="15240">
            <a:solidFill>
              <a:srgbClr val="FFFFFF"/>
            </a:solidFill>
          </a:ln>
        </p:spPr>
      </p:cxnSp>
      <p:sp>
        <p:nvSpPr>
          <p:cNvPr id="7" name="tick label 0"/>
          <p:cNvSpPr txBox="1"/>
          <p:nvPr/>
        </p:nvSpPr>
        <p:spPr>
          <a:xfrm>
            <a:off x="1424940" y="5387340"/>
            <a:ext cx="381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r"/>
            <a:r>
              <a:rPr lang="en-US" sz="1400" dirty="0">
                <a:solidFill>
                  <a:srgbClr val="FFFFFF"/>
                </a:solidFill>
                <a:latin typeface="Arial"/>
                <a:cs typeface="Arial"/>
              </a:rPr>
              <a:t>0%</a:t>
            </a:r>
          </a:p>
        </p:txBody>
      </p:sp>
      <p:cxnSp>
        <p:nvCxnSpPr>
          <p:cNvPr id="8" name="grid 0.1"/>
          <p:cNvCxnSpPr/>
          <p:nvPr/>
        </p:nvCxnSpPr>
        <p:spPr>
          <a:xfrm>
            <a:off x="1943100" y="4476931"/>
            <a:ext cx="8915400" cy="1"/>
          </a:xfrm>
          <a:prstGeom prst="line">
            <a:avLst/>
          </a:prstGeom>
          <a:ln w="11430">
            <a:solidFill>
              <a:srgbClr val="B2E0A6">
                <a:alpha val="35000"/>
              </a:srgbClr>
            </a:solidFill>
          </a:ln>
        </p:spPr>
      </p:cxnSp>
      <p:cxnSp>
        <p:nvCxnSpPr>
          <p:cNvPr id="9" name="tick 0.1"/>
          <p:cNvCxnSpPr/>
          <p:nvPr/>
        </p:nvCxnSpPr>
        <p:spPr>
          <a:xfrm>
            <a:off x="1866900" y="4476931"/>
            <a:ext cx="76200" cy="1"/>
          </a:xfrm>
          <a:prstGeom prst="line">
            <a:avLst/>
          </a:prstGeom>
          <a:ln w="15240">
            <a:solidFill>
              <a:srgbClr val="FFFFFF"/>
            </a:solidFill>
          </a:ln>
        </p:spPr>
      </p:cxnSp>
      <p:sp>
        <p:nvSpPr>
          <p:cNvPr id="10" name="tick label 0.1"/>
          <p:cNvSpPr txBox="1"/>
          <p:nvPr/>
        </p:nvSpPr>
        <p:spPr>
          <a:xfrm>
            <a:off x="1424940" y="4393111"/>
            <a:ext cx="381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r"/>
            <a:r>
              <a:rPr lang="en-US" sz="1400" dirty="0">
                <a:solidFill>
                  <a:srgbClr val="FFFFFF"/>
                </a:solidFill>
                <a:latin typeface="Arial"/>
                <a:cs typeface="Arial"/>
              </a:rPr>
              <a:t>10%</a:t>
            </a:r>
          </a:p>
        </p:txBody>
      </p:sp>
      <p:cxnSp>
        <p:nvCxnSpPr>
          <p:cNvPr id="11" name="grid 0.2"/>
          <p:cNvCxnSpPr/>
          <p:nvPr/>
        </p:nvCxnSpPr>
        <p:spPr>
          <a:xfrm>
            <a:off x="1943100" y="3482703"/>
            <a:ext cx="8915400" cy="1"/>
          </a:xfrm>
          <a:prstGeom prst="line">
            <a:avLst/>
          </a:prstGeom>
          <a:ln w="11430">
            <a:solidFill>
              <a:srgbClr val="B2E0A6">
                <a:alpha val="35000"/>
              </a:srgbClr>
            </a:solidFill>
          </a:ln>
        </p:spPr>
      </p:cxnSp>
      <p:cxnSp>
        <p:nvCxnSpPr>
          <p:cNvPr id="12" name="tick 0.2"/>
          <p:cNvCxnSpPr/>
          <p:nvPr/>
        </p:nvCxnSpPr>
        <p:spPr>
          <a:xfrm>
            <a:off x="1866900" y="3482703"/>
            <a:ext cx="76200" cy="1"/>
          </a:xfrm>
          <a:prstGeom prst="line">
            <a:avLst/>
          </a:prstGeom>
          <a:ln w="15240">
            <a:solidFill>
              <a:srgbClr val="FFFFFF"/>
            </a:solidFill>
          </a:ln>
        </p:spPr>
      </p:cxnSp>
      <p:sp>
        <p:nvSpPr>
          <p:cNvPr id="13" name="tick label 0.2"/>
          <p:cNvSpPr txBox="1"/>
          <p:nvPr/>
        </p:nvSpPr>
        <p:spPr>
          <a:xfrm>
            <a:off x="1424940" y="3398883"/>
            <a:ext cx="381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r"/>
            <a:r>
              <a:rPr lang="en-US" sz="1400" dirty="0">
                <a:solidFill>
                  <a:srgbClr val="FFFFFF"/>
                </a:solidFill>
                <a:latin typeface="Arial"/>
                <a:cs typeface="Arial"/>
              </a:rPr>
              <a:t>20%</a:t>
            </a:r>
          </a:p>
        </p:txBody>
      </p:sp>
      <p:cxnSp>
        <p:nvCxnSpPr>
          <p:cNvPr id="14" name="grid 0.3"/>
          <p:cNvCxnSpPr/>
          <p:nvPr/>
        </p:nvCxnSpPr>
        <p:spPr>
          <a:xfrm>
            <a:off x="1943100" y="2488474"/>
            <a:ext cx="8915400" cy="1"/>
          </a:xfrm>
          <a:prstGeom prst="line">
            <a:avLst/>
          </a:prstGeom>
          <a:ln w="11430">
            <a:solidFill>
              <a:srgbClr val="B2E0A6">
                <a:alpha val="35000"/>
              </a:srgbClr>
            </a:solidFill>
          </a:ln>
        </p:spPr>
      </p:cxnSp>
      <p:cxnSp>
        <p:nvCxnSpPr>
          <p:cNvPr id="15" name="tick 0.3"/>
          <p:cNvCxnSpPr/>
          <p:nvPr/>
        </p:nvCxnSpPr>
        <p:spPr>
          <a:xfrm>
            <a:off x="1866900" y="2488474"/>
            <a:ext cx="76200" cy="1"/>
          </a:xfrm>
          <a:prstGeom prst="line">
            <a:avLst/>
          </a:prstGeom>
          <a:ln w="15240">
            <a:solidFill>
              <a:srgbClr val="FFFFFF"/>
            </a:solidFill>
          </a:ln>
        </p:spPr>
      </p:cxnSp>
      <p:sp>
        <p:nvSpPr>
          <p:cNvPr id="16" name="tick label 0.3"/>
          <p:cNvSpPr txBox="1"/>
          <p:nvPr/>
        </p:nvSpPr>
        <p:spPr>
          <a:xfrm>
            <a:off x="1424940" y="2404654"/>
            <a:ext cx="381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r"/>
            <a:r>
              <a:rPr lang="en-US" sz="1400" dirty="0">
                <a:solidFill>
                  <a:srgbClr val="FFFFFF"/>
                </a:solidFill>
                <a:latin typeface="Arial"/>
                <a:cs typeface="Arial"/>
              </a:rPr>
              <a:t>30%</a:t>
            </a:r>
          </a:p>
        </p:txBody>
      </p:sp>
      <p:cxnSp>
        <p:nvCxnSpPr>
          <p:cNvPr id="17" name="grid 0.4"/>
          <p:cNvCxnSpPr/>
          <p:nvPr/>
        </p:nvCxnSpPr>
        <p:spPr>
          <a:xfrm>
            <a:off x="1943100" y="1494246"/>
            <a:ext cx="8915400" cy="1"/>
          </a:xfrm>
          <a:prstGeom prst="line">
            <a:avLst/>
          </a:prstGeom>
          <a:ln w="11430">
            <a:solidFill>
              <a:srgbClr val="B2E0A6">
                <a:alpha val="35000"/>
              </a:srgbClr>
            </a:solidFill>
          </a:ln>
        </p:spPr>
      </p:cxnSp>
      <p:cxnSp>
        <p:nvCxnSpPr>
          <p:cNvPr id="18" name="tick 0.4"/>
          <p:cNvCxnSpPr/>
          <p:nvPr/>
        </p:nvCxnSpPr>
        <p:spPr>
          <a:xfrm>
            <a:off x="1866900" y="1494246"/>
            <a:ext cx="76200" cy="1"/>
          </a:xfrm>
          <a:prstGeom prst="line">
            <a:avLst/>
          </a:prstGeom>
          <a:ln w="15240">
            <a:solidFill>
              <a:srgbClr val="FFFFFF"/>
            </a:solidFill>
          </a:ln>
        </p:spPr>
      </p:cxnSp>
      <p:sp>
        <p:nvSpPr>
          <p:cNvPr id="19" name="tick label 0.4"/>
          <p:cNvSpPr txBox="1"/>
          <p:nvPr/>
        </p:nvSpPr>
        <p:spPr>
          <a:xfrm>
            <a:off x="1424940" y="1410426"/>
            <a:ext cx="381000" cy="16764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r"/>
            <a:r>
              <a:rPr lang="en-US" sz="1400" dirty="0">
                <a:solidFill>
                  <a:srgbClr val="FFFFFF"/>
                </a:solidFill>
                <a:latin typeface="Arial"/>
                <a:cs typeface="Arial"/>
              </a:rPr>
              <a:t>40%</a:t>
            </a:r>
          </a:p>
        </p:txBody>
      </p:sp>
      <p:cxnSp>
        <p:nvCxnSpPr>
          <p:cNvPr id="20" name="y axis"/>
          <p:cNvCxnSpPr/>
          <p:nvPr/>
        </p:nvCxnSpPr>
        <p:spPr>
          <a:xfrm>
            <a:off x="1943100" y="1295400"/>
            <a:ext cx="1" cy="4175760"/>
          </a:xfrm>
          <a:prstGeom prst="line">
            <a:avLst/>
          </a:prstGeom>
          <a:ln w="25400">
            <a:solidFill>
              <a:srgbClr val="FFFFFF"/>
            </a:solidFill>
          </a:ln>
        </p:spPr>
      </p:cxnSp>
      <p:cxnSp>
        <p:nvCxnSpPr>
          <p:cNvPr id="21" name="x axis"/>
          <p:cNvCxnSpPr/>
          <p:nvPr/>
        </p:nvCxnSpPr>
        <p:spPr>
          <a:xfrm>
            <a:off x="1943100" y="5471160"/>
            <a:ext cx="8915400" cy="1"/>
          </a:xfrm>
          <a:prstGeom prst="line">
            <a:avLst/>
          </a:prstGeom>
          <a:ln w="25400">
            <a:solidFill>
              <a:srgbClr val="FFFFFF"/>
            </a:solidFill>
          </a:ln>
        </p:spPr>
      </p:cxnSp>
      <p:sp>
        <p:nvSpPr>
          <p:cNvPr id="22" name="y axis label"/>
          <p:cNvSpPr txBox="1"/>
          <p:nvPr/>
        </p:nvSpPr>
        <p:spPr>
          <a:xfrm rot="16200000">
            <a:off x="815340" y="2324100"/>
            <a:ext cx="396240" cy="20193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/>
                <a:cs typeface="Arial"/>
              </a:rPr>
              <a:t>ED Outcome Probability</a:t>
            </a:r>
          </a:p>
        </p:txBody>
      </p:sp>
      <p:sp>
        <p:nvSpPr>
          <p:cNvPr id="23" name="bar If not treated"/>
          <p:cNvSpPr/>
          <p:nvPr/>
        </p:nvSpPr>
        <p:spPr>
          <a:xfrm>
            <a:off x="2609850" y="2090783"/>
            <a:ext cx="1866900" cy="3380377"/>
          </a:xfrm>
          <a:prstGeom prst="rect">
            <a:avLst/>
          </a:prstGeom>
          <a:solidFill>
            <a:srgbClr val="B4EA54"/>
          </a:solidFill>
          <a:ln w="20320">
            <a:solidFill>
              <a:srgbClr val="FFFFFF"/>
            </a:solidFill>
          </a:ln>
        </p:spPr>
      </p:sp>
      <p:sp>
        <p:nvSpPr>
          <p:cNvPr id="24" name="If not treated value label"/>
          <p:cNvSpPr txBox="1"/>
          <p:nvPr/>
        </p:nvSpPr>
        <p:spPr>
          <a:xfrm>
            <a:off x="3124200" y="1679303"/>
            <a:ext cx="838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34%</a:t>
            </a:r>
          </a:p>
        </p:txBody>
      </p:sp>
      <p:sp>
        <p:nvSpPr>
          <p:cNvPr id="25" name="If not treated inside label"/>
          <p:cNvSpPr txBox="1"/>
          <p:nvPr/>
        </p:nvSpPr>
        <p:spPr>
          <a:xfrm>
            <a:off x="2842260" y="3643811"/>
            <a:ext cx="1402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600" b="1" dirty="0">
                <a:solidFill>
                  <a:srgbClr val="003900"/>
                </a:solidFill>
                <a:latin typeface="Arial"/>
                <a:cs typeface="Arial"/>
              </a:rPr>
              <a:t>If not treated</a:t>
            </a:r>
          </a:p>
        </p:txBody>
      </p:sp>
      <p:sp>
        <p:nvSpPr>
          <p:cNvPr id="26" name="If not treated x label"/>
          <p:cNvSpPr txBox="1"/>
          <p:nvPr/>
        </p:nvSpPr>
        <p:spPr>
          <a:xfrm>
            <a:off x="2667000" y="5638800"/>
            <a:ext cx="1752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If not treated</a:t>
            </a:r>
          </a:p>
        </p:txBody>
      </p:sp>
      <p:sp>
        <p:nvSpPr>
          <p:cNvPr id="27" name="bar If treated"/>
          <p:cNvSpPr/>
          <p:nvPr/>
        </p:nvSpPr>
        <p:spPr>
          <a:xfrm>
            <a:off x="6419850" y="3681549"/>
            <a:ext cx="1866900" cy="1789611"/>
          </a:xfrm>
          <a:prstGeom prst="rect">
            <a:avLst/>
          </a:prstGeom>
          <a:solidFill>
            <a:srgbClr val="2BBC2B"/>
          </a:solidFill>
          <a:ln w="20320">
            <a:solidFill>
              <a:srgbClr val="FFFFFF"/>
            </a:solidFill>
          </a:ln>
        </p:spPr>
      </p:sp>
      <p:sp>
        <p:nvSpPr>
          <p:cNvPr id="28" name="If treated value label"/>
          <p:cNvSpPr txBox="1"/>
          <p:nvPr/>
        </p:nvSpPr>
        <p:spPr>
          <a:xfrm>
            <a:off x="6934200" y="3270069"/>
            <a:ext cx="838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18%</a:t>
            </a:r>
          </a:p>
        </p:txBody>
      </p:sp>
      <p:sp>
        <p:nvSpPr>
          <p:cNvPr id="29" name="If treated inside label"/>
          <p:cNvSpPr txBox="1"/>
          <p:nvPr/>
        </p:nvSpPr>
        <p:spPr>
          <a:xfrm>
            <a:off x="6652260" y="4439194"/>
            <a:ext cx="14020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/>
                <a:cs typeface="Arial"/>
              </a:rPr>
              <a:t>If treated</a:t>
            </a:r>
          </a:p>
        </p:txBody>
      </p:sp>
      <p:sp>
        <p:nvSpPr>
          <p:cNvPr id="30" name="If treated x label"/>
          <p:cNvSpPr txBox="1"/>
          <p:nvPr/>
        </p:nvSpPr>
        <p:spPr>
          <a:xfrm>
            <a:off x="6477000" y="5638800"/>
            <a:ext cx="17526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If treated</a:t>
            </a:r>
          </a:p>
        </p:txBody>
      </p:sp>
      <p:cxnSp>
        <p:nvCxnSpPr>
          <p:cNvPr id="31" name="benefit arrow"/>
          <p:cNvCxnSpPr/>
          <p:nvPr/>
        </p:nvCxnSpPr>
        <p:spPr>
          <a:xfrm>
            <a:off x="3543300" y="1968863"/>
            <a:ext cx="3810000" cy="1590766"/>
          </a:xfrm>
          <a:prstGeom prst="line">
            <a:avLst/>
          </a:prstGeom>
          <a:ln w="27940">
            <a:solidFill>
              <a:srgbClr val="FFFFFF"/>
            </a:solidFill>
            <a:headEnd type="triangle"/>
          </a:ln>
        </p:spPr>
      </p:cxnSp>
      <p:sp>
        <p:nvSpPr>
          <p:cNvPr id="32" name="benefit label"/>
          <p:cNvSpPr txBox="1"/>
          <p:nvPr/>
        </p:nvSpPr>
        <p:spPr>
          <a:xfrm>
            <a:off x="4343400" y="2247900"/>
            <a:ext cx="3962400" cy="259080"/>
          </a:xfrm>
          <a:prstGeom prst="rect">
            <a:avLst/>
          </a:prstGeom>
          <a:noFill/>
          <a:ln>
            <a:noFill/>
          </a:ln>
        </p:spPr>
        <p:txBody>
          <a:bodyPr wrap="square" anchor="ctr" lIns="76200" tIns="45720" rIns="76200" bIns="45720"/>
          <a:lstStyle/>
          <a:p>
            <a:pPr algn="l"/>
            <a:r>
              <a:rPr lang="en-US" sz="1600" b="1" dirty="0">
                <a:solidFill>
                  <a:srgbClr val="E9FFE1"/>
                </a:solidFill>
                <a:latin typeface="Arial"/>
                <a:cs typeface="Arial"/>
              </a:rPr>
              <a:t>Estimated benefit: 16 percentage-point reduction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entra">
  <a:themeElements>
    <a:clrScheme name="Acentra">
      <a:dk1>
        <a:srgbClr val="003900"/>
      </a:dk1>
      <a:lt1>
        <a:srgbClr val="FFFFFF"/>
      </a:lt1>
      <a:dk2>
        <a:srgbClr val="016101"/>
      </a:dk2>
      <a:lt2>
        <a:srgbClr val="E9FFE1"/>
      </a:lt2>
      <a:accent1>
        <a:srgbClr val="2BBC2B"/>
      </a:accent1>
      <a:accent2>
        <a:srgbClr val="B4EA54"/>
      </a:accent2>
      <a:accent3>
        <a:srgbClr val="B2E0A6"/>
      </a:accent3>
      <a:accent4>
        <a:srgbClr val="F7FFF3"/>
      </a:accent4>
      <a:accent5>
        <a:srgbClr val="08720A"/>
      </a:accent5>
      <a:accent6>
        <a:srgbClr val="006A08"/>
      </a:accent6>
      <a:hlink>
        <a:srgbClr val="2BBC2B"/>
      </a:hlink>
      <a:folHlink>
        <a:srgbClr val="B4EA54"/>
      </a:folHlink>
    </a:clrScheme>
    <a:fontScheme name="Arial">
      <a:majorFont>
        <a:latin typeface="Arial"/>
      </a:majorFont>
      <a:minorFont>
        <a:latin typeface="Arial"/>
      </a:minorFont>
    </a:fontScheme>
    <a:fmtScheme name="Acentr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</Slides>
  <Notes>0</Notes>
  <HiddenSlides>0</HiddenSlide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PRISM ED Outcome Probability Bar Graph</dc:title>
  <dc:creator>Codex</dc:creator>
  <cp:lastModifiedBy>Codex</cp:lastModifiedBy>
  <dcterms:created xsi:type="dcterms:W3CDTF">2026-06-26T20:59:00Z</dcterms:created>
  <dcterms:modified xsi:type="dcterms:W3CDTF">2026-06-26T20:59:00Z</dcterms:modified>
</cp:coreProperties>
</file>